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7" r:id="rId4"/>
    <p:sldId id="258" r:id="rId5"/>
    <p:sldId id="260" r:id="rId6"/>
    <p:sldId id="262" r:id="rId7"/>
    <p:sldId id="263" r:id="rId8"/>
    <p:sldId id="261"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43012" autoAdjust="0"/>
  </p:normalViewPr>
  <p:slideViewPr>
    <p:cSldViewPr snapToGrid="0">
      <p:cViewPr>
        <p:scale>
          <a:sx n="33" d="100"/>
          <a:sy n="33" d="100"/>
        </p:scale>
        <p:origin x="2381" y="15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C1049C-A6B8-4BDD-B30A-7447F1832C04}" type="datetimeFigureOut">
              <a:rPr lang="en-NZ" smtClean="0"/>
              <a:t>7/10/2016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A1D2CA-1474-4220-9A24-8F3C146685B4}" type="slidenum">
              <a:rPr lang="en-NZ" smtClean="0"/>
              <a:t>‹#›</a:t>
            </a:fld>
            <a:endParaRPr lang="en-NZ"/>
          </a:p>
        </p:txBody>
      </p:sp>
    </p:spTree>
    <p:extLst>
      <p:ext uri="{BB962C8B-B14F-4D97-AF65-F5344CB8AC3E}">
        <p14:creationId xmlns:p14="http://schemas.microsoft.com/office/powerpoint/2010/main" val="3407854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libguides.victoria.ac.nz/c.php?g=564451"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Comments:</a:t>
            </a:r>
            <a:r>
              <a:rPr lang="en-NZ" baseline="0" dirty="0" smtClean="0"/>
              <a:t> Start with something you know or want to learn more about – it makes the project easier if you are interested in the company</a:t>
            </a:r>
            <a:r>
              <a:rPr lang="en-NZ" baseline="0" dirty="0" smtClean="0"/>
              <a:t>.</a:t>
            </a:r>
          </a:p>
          <a:p>
            <a:endParaRPr lang="en-NZ" baseline="0" dirty="0" smtClean="0"/>
          </a:p>
          <a:p>
            <a:r>
              <a:rPr lang="en-NZ" baseline="0" dirty="0" smtClean="0"/>
              <a:t>I lived in Georgia (just outside of Atlanta) where Coca Cola is headquartered. Coca Cola execs often came to the university I worked at to discuss issues the company was facing (operations, marketing, </a:t>
            </a:r>
            <a:r>
              <a:rPr lang="en-NZ" baseline="0" dirty="0" err="1" smtClean="0"/>
              <a:t>etc</a:t>
            </a:r>
            <a:r>
              <a:rPr lang="en-NZ" baseline="0" dirty="0" smtClean="0"/>
              <a:t>). I know that Coca Cola was working on recycling water in their plants  - sustainability is something of interest. I have been to Coca Cola World (long advertisement, followed by a trip to the tasting room – where they have all of their drinks available for trial), it is a world-wide brand and very visible. I used to drink Coke, but don’t any more. I know I am not the only one (changing market).</a:t>
            </a:r>
          </a:p>
          <a:p>
            <a:endParaRPr lang="en-NZ" baseline="0" dirty="0" smtClean="0"/>
          </a:p>
          <a:p>
            <a:r>
              <a:rPr lang="en-NZ" baseline="0" dirty="0" smtClean="0"/>
              <a:t>If I didn’t know these things, I may have to do additional reading about my company to identify these issues.</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3</a:t>
            </a:fld>
            <a:endParaRPr lang="en-NZ"/>
          </a:p>
        </p:txBody>
      </p:sp>
    </p:spTree>
    <p:extLst>
      <p:ext uri="{BB962C8B-B14F-4D97-AF65-F5344CB8AC3E}">
        <p14:creationId xmlns:p14="http://schemas.microsoft.com/office/powerpoint/2010/main" val="383840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I came across</a:t>
            </a:r>
            <a:r>
              <a:rPr lang="en-NZ" baseline="0" dirty="0" smtClean="0"/>
              <a:t> this infographic last week - https://</a:t>
            </a:r>
            <a:r>
              <a:rPr lang="en-NZ" baseline="0" dirty="0" smtClean="0"/>
              <a:t>www.oxfamamerica.org/static/media/files/Behind-the-brands-illusion-of-choice-graphic-2048x1351.jpg </a:t>
            </a:r>
          </a:p>
          <a:p>
            <a:r>
              <a:rPr lang="en-NZ" baseline="0" dirty="0" smtClean="0"/>
              <a:t>I regularly scan business and social/political sources for issues (part of being an informed citizen).</a:t>
            </a:r>
            <a:endParaRPr lang="en-NZ" baseline="0" dirty="0" smtClean="0"/>
          </a:p>
          <a:p>
            <a:endParaRPr lang="en-NZ" baseline="0" dirty="0" smtClean="0"/>
          </a:p>
          <a:p>
            <a:r>
              <a:rPr lang="en-NZ" baseline="0" dirty="0" smtClean="0"/>
              <a:t>Unfortunately, it is from an article discussing how 10 companies made most of the food we buy (https://www.oxfamamerica.org/explore/stories/these-10-companies-make-a-lot-of-the-food-we-buy-heres-how-we-made-them-better/).</a:t>
            </a:r>
          </a:p>
          <a:p>
            <a:endParaRPr lang="en-NZ" baseline="0" dirty="0" smtClean="0"/>
          </a:p>
          <a:p>
            <a:r>
              <a:rPr lang="en-NZ" baseline="0" dirty="0" smtClean="0"/>
              <a:t>I </a:t>
            </a:r>
            <a:r>
              <a:rPr lang="en-NZ" baseline="0" dirty="0" smtClean="0"/>
              <a:t>think I may focus </a:t>
            </a:r>
            <a:r>
              <a:rPr lang="en-NZ" baseline="0" dirty="0" smtClean="0"/>
              <a:t>on water, but I am not sure if I want to compare with </a:t>
            </a:r>
            <a:r>
              <a:rPr lang="en-NZ" baseline="0" dirty="0" err="1" smtClean="0"/>
              <a:t>Pepsico</a:t>
            </a:r>
            <a:r>
              <a:rPr lang="en-NZ" baseline="0" dirty="0" smtClean="0"/>
              <a:t> or Nestle right now. I could also try and compare Global brand with NZ. Is there a market Coca-Cola may want to break into or is looking at (I may be able to find that at the website or in a business source)</a:t>
            </a:r>
          </a:p>
          <a:p>
            <a:endParaRPr lang="en-NZ" baseline="0" dirty="0" smtClean="0"/>
          </a:p>
          <a:p>
            <a:r>
              <a:rPr lang="en-NZ" baseline="0" dirty="0" smtClean="0"/>
              <a:t>I do find it interesting that Coca-Cola has not diversified in the same way that </a:t>
            </a:r>
            <a:r>
              <a:rPr lang="en-NZ" baseline="0" dirty="0" err="1" smtClean="0"/>
              <a:t>Pepsico</a:t>
            </a:r>
            <a:r>
              <a:rPr lang="en-NZ" baseline="0" dirty="0" smtClean="0"/>
              <a:t> has</a:t>
            </a:r>
            <a:r>
              <a:rPr lang="en-NZ" baseline="0" dirty="0" smtClean="0"/>
              <a:t>. {if you zoom in on the image, coke is the only one of the companies with a single industry}</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4</a:t>
            </a:fld>
            <a:endParaRPr lang="en-NZ"/>
          </a:p>
        </p:txBody>
      </p:sp>
    </p:spTree>
    <p:extLst>
      <p:ext uri="{BB962C8B-B14F-4D97-AF65-F5344CB8AC3E}">
        <p14:creationId xmlns:p14="http://schemas.microsoft.com/office/powerpoint/2010/main" val="3592131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smtClean="0"/>
              <a:t>There is information</a:t>
            </a:r>
            <a:r>
              <a:rPr lang="en-NZ" baseline="0" dirty="0" smtClean="0"/>
              <a:t> about companies in multiple databases (Business Source Complete, ABI/Inform, </a:t>
            </a:r>
            <a:r>
              <a:rPr lang="en-NZ" baseline="0" dirty="0" err="1" smtClean="0"/>
              <a:t>Newztext</a:t>
            </a:r>
            <a:r>
              <a:rPr lang="en-NZ" baseline="0" dirty="0" smtClean="0"/>
              <a:t>…I will identify some of my </a:t>
            </a:r>
            <a:r>
              <a:rPr lang="en-NZ" baseline="0" dirty="0" err="1" smtClean="0"/>
              <a:t>favorite</a:t>
            </a:r>
            <a:r>
              <a:rPr lang="en-NZ" baseline="0" dirty="0" smtClean="0"/>
              <a:t> sights in this document. You can also look at the guide the Commerce Librarian created: </a:t>
            </a:r>
            <a:r>
              <a:rPr lang="en-NZ" sz="1200" u="sng" kern="1200" dirty="0" smtClean="0">
                <a:solidFill>
                  <a:schemeClr val="tx1"/>
                </a:solidFill>
                <a:effectLst/>
                <a:latin typeface="+mn-lt"/>
                <a:ea typeface="+mn-ea"/>
                <a:cs typeface="+mn-cs"/>
                <a:hlinkClick r:id="rId3"/>
              </a:rPr>
              <a:t>http://libguides.victoria.ac.nz/c.php?g=564451</a:t>
            </a:r>
            <a:r>
              <a:rPr lang="en-NZ" sz="1200" kern="1200" dirty="0" smtClean="0">
                <a:solidFill>
                  <a:schemeClr val="tx1"/>
                </a:solidFill>
                <a:effectLst/>
                <a:latin typeface="+mn-lt"/>
                <a:ea typeface="+mn-ea"/>
                <a:cs typeface="+mn-cs"/>
              </a:rPr>
              <a:t> </a:t>
            </a:r>
            <a:r>
              <a:rPr lang="en-NZ" baseline="0"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NZ" baseline="0" dirty="0" smtClean="0"/>
              <a:t>On the off chance I would find something interesting, I searched: (</a:t>
            </a:r>
            <a:r>
              <a:rPr lang="en-US" baseline="0" dirty="0" smtClean="0"/>
              <a:t>coca cola by the numbers) just to see what I would find. I came across Coca-Cola Journey a digital magazine (http://www.coca-colacompany.com/infographic-journey-by-the-numbers). I may find something good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Started working my way through the </a:t>
            </a:r>
            <a:r>
              <a:rPr lang="en-US" baseline="0" dirty="0" smtClean="0"/>
              <a:t>Coca-Cola </a:t>
            </a:r>
            <a:r>
              <a:rPr lang="en-US" baseline="0" dirty="0" smtClean="0"/>
              <a:t>company site. Found infographic – can’t copy it, but may mine it for data</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5</a:t>
            </a:fld>
            <a:endParaRPr lang="en-NZ"/>
          </a:p>
        </p:txBody>
      </p:sp>
    </p:spTree>
    <p:extLst>
      <p:ext uri="{BB962C8B-B14F-4D97-AF65-F5344CB8AC3E}">
        <p14:creationId xmlns:p14="http://schemas.microsoft.com/office/powerpoint/2010/main" val="1840434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smtClean="0"/>
              <a:t>Hoover’s (through</a:t>
            </a:r>
            <a:r>
              <a:rPr lang="en-NZ" baseline="0" dirty="0" smtClean="0"/>
              <a:t> </a:t>
            </a:r>
            <a:r>
              <a:rPr lang="en-NZ" baseline="0" dirty="0" smtClean="0"/>
              <a:t>ProQuest) </a:t>
            </a:r>
            <a:r>
              <a:rPr lang="en-NZ" baseline="0" dirty="0" smtClean="0"/>
              <a:t>pulls up every </a:t>
            </a:r>
            <a:r>
              <a:rPr lang="en-NZ" baseline="0" dirty="0" smtClean="0"/>
              <a:t>Coca-Cola </a:t>
            </a:r>
            <a:r>
              <a:rPr lang="en-NZ" baseline="0" dirty="0" smtClean="0"/>
              <a:t>related company (bottlers, distributors, national HQs, etc. Choose Coca Cola North America, which had a link to TCCC The Coca-Cola Company. This moved me to the Hoover’s interface (</a:t>
            </a:r>
            <a:r>
              <a:rPr lang="en-NZ" baseline="0" dirty="0" err="1" smtClean="0"/>
              <a:t>colors</a:t>
            </a:r>
            <a:r>
              <a:rPr lang="en-NZ" baseline="0" dirty="0" smtClean="0"/>
              <a:t> and URLs change).</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6</a:t>
            </a:fld>
            <a:endParaRPr lang="en-NZ"/>
          </a:p>
        </p:txBody>
      </p:sp>
    </p:spTree>
    <p:extLst>
      <p:ext uri="{BB962C8B-B14F-4D97-AF65-F5344CB8AC3E}">
        <p14:creationId xmlns:p14="http://schemas.microsoft.com/office/powerpoint/2010/main" val="2202413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Z"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NZ" baseline="0" dirty="0" smtClean="0"/>
              <a:t>You can search EDGAR online at the sec.gov or through </a:t>
            </a:r>
            <a:r>
              <a:rPr lang="en-NZ" baseline="0" dirty="0" err="1" smtClean="0"/>
              <a:t>LexisNexisAcademic</a:t>
            </a:r>
            <a:endParaRPr lang="en-NZ"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NZ" baseline="0" dirty="0" smtClean="0"/>
              <a:t>Why? Good source of financial data. Annual reports have about 5 years of data in the report (and there are usually 5 years or so of reports available for investors on company websites). </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7</a:t>
            </a:fld>
            <a:endParaRPr lang="en-NZ"/>
          </a:p>
        </p:txBody>
      </p:sp>
    </p:spTree>
    <p:extLst>
      <p:ext uri="{BB962C8B-B14F-4D97-AF65-F5344CB8AC3E}">
        <p14:creationId xmlns:p14="http://schemas.microsoft.com/office/powerpoint/2010/main" val="2939663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Lot’s of information on the mission</a:t>
            </a:r>
            <a:r>
              <a:rPr lang="en-NZ" baseline="0" dirty="0" smtClean="0"/>
              <a:t> vision page - http://www.coca-colacompany.com/our-company/mission-vision-values</a:t>
            </a:r>
          </a:p>
          <a:p>
            <a:r>
              <a:rPr lang="en-NZ" baseline="0" dirty="0" smtClean="0"/>
              <a:t>Sustainability ties to what I was thinking of with water (commodification of water; environment).</a:t>
            </a:r>
          </a:p>
          <a:p>
            <a:r>
              <a:rPr lang="en-NZ" baseline="0" dirty="0" smtClean="0"/>
              <a:t>At this point, rather than run through R, I am going to create a word cloud using wordle.net (it doesn’t remove </a:t>
            </a:r>
            <a:r>
              <a:rPr lang="en-NZ" baseline="0" dirty="0" err="1" smtClean="0"/>
              <a:t>stopwords</a:t>
            </a:r>
            <a:r>
              <a:rPr lang="en-NZ" baseline="0" dirty="0" smtClean="0"/>
              <a:t>). I may have to work on </a:t>
            </a:r>
            <a:r>
              <a:rPr lang="en-NZ" baseline="0" dirty="0" smtClean="0"/>
              <a:t>that…but it is a quick way to check for value. I may come back to this.</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9</a:t>
            </a:fld>
            <a:endParaRPr lang="en-NZ"/>
          </a:p>
        </p:txBody>
      </p:sp>
    </p:spTree>
    <p:extLst>
      <p:ext uri="{BB962C8B-B14F-4D97-AF65-F5344CB8AC3E}">
        <p14:creationId xmlns:p14="http://schemas.microsoft.com/office/powerpoint/2010/main" val="1333817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Hoover’s lists out everyone from beverage companies, to conglomerates like</a:t>
            </a:r>
            <a:r>
              <a:rPr lang="en-NZ" baseline="0" dirty="0" smtClean="0"/>
              <a:t> </a:t>
            </a:r>
            <a:r>
              <a:rPr lang="en-NZ" baseline="0" dirty="0" err="1" smtClean="0"/>
              <a:t>Mondelez</a:t>
            </a:r>
            <a:r>
              <a:rPr lang="en-NZ" baseline="0" dirty="0" smtClean="0"/>
              <a:t> (Kraft), to fruit companies.</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10</a:t>
            </a:fld>
            <a:endParaRPr lang="en-NZ"/>
          </a:p>
        </p:txBody>
      </p:sp>
    </p:spTree>
    <p:extLst>
      <p:ext uri="{BB962C8B-B14F-4D97-AF65-F5344CB8AC3E}">
        <p14:creationId xmlns:p14="http://schemas.microsoft.com/office/powerpoint/2010/main" val="53931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Hoover’s Overview points:</a:t>
            </a:r>
          </a:p>
          <a:p>
            <a:r>
              <a:rPr lang="en-NZ" dirty="0" smtClean="0"/>
              <a:t>7 main segments based</a:t>
            </a:r>
            <a:r>
              <a:rPr lang="en-NZ" baseline="0" dirty="0" smtClean="0"/>
              <a:t> on geography for the most part</a:t>
            </a:r>
          </a:p>
          <a:p>
            <a:r>
              <a:rPr lang="en-NZ" baseline="0" dirty="0" smtClean="0"/>
              <a:t>Sell “finished beverages” (63% of sales in 2015) and “beverage concentrates and syrups”</a:t>
            </a:r>
          </a:p>
          <a:p>
            <a:r>
              <a:rPr lang="en-NZ" baseline="0" dirty="0" smtClean="0"/>
              <a:t>55% of sales outside of US [wow! I would have thought that would be higher]</a:t>
            </a:r>
          </a:p>
          <a:p>
            <a:r>
              <a:rPr lang="en-NZ" baseline="0" dirty="0" smtClean="0"/>
              <a:t>“…one of the most recognizable and valuable brands”</a:t>
            </a:r>
          </a:p>
          <a:p>
            <a:r>
              <a:rPr lang="en-NZ" baseline="0" dirty="0" smtClean="0"/>
              <a:t>Spent $4billion on advertising in 2015 [could be interesting comparison [2015, $4b; 2014, $3.5b; 2013$3.26b]</a:t>
            </a:r>
          </a:p>
          <a:p>
            <a:r>
              <a:rPr lang="en-NZ" baseline="0" dirty="0" smtClean="0"/>
              <a:t>“..sales have fallen with changing consumer tastes in developed markets”</a:t>
            </a:r>
          </a:p>
          <a:p>
            <a:r>
              <a:rPr lang="en-NZ" baseline="0" dirty="0" smtClean="0"/>
              <a:t>A lot to unpack here:</a:t>
            </a:r>
          </a:p>
          <a:p>
            <a:r>
              <a:rPr lang="en-US" sz="1200" b="0" i="0" kern="1200" dirty="0" smtClean="0">
                <a:solidFill>
                  <a:schemeClr val="tx1"/>
                </a:solidFill>
                <a:effectLst/>
                <a:latin typeface="+mn-lt"/>
                <a:ea typeface="+mn-ea"/>
                <a:cs typeface="+mn-cs"/>
              </a:rPr>
              <a:t>“The soft-drink maker's sales fell 4% to $44.3 billion during 2015 with sales falling in every segment and region except for North America (where it sold more bottled water and teas), mostly due to the unfavorable impact of foreign exchange rates. ”</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Decrease sales in general</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Increase in water and</a:t>
            </a:r>
            <a:r>
              <a:rPr lang="en-US" sz="1200" b="0" i="0" kern="1200" baseline="0" dirty="0" smtClean="0">
                <a:solidFill>
                  <a:schemeClr val="tx1"/>
                </a:solidFill>
                <a:effectLst/>
                <a:latin typeface="+mn-lt"/>
                <a:ea typeface="+mn-ea"/>
                <a:cs typeface="+mn-cs"/>
              </a:rPr>
              <a:t> tea sales in North America</a:t>
            </a:r>
          </a:p>
          <a:p>
            <a:pPr marL="171450" indent="-171450">
              <a:buFont typeface="Arial" panose="020B0604020202020204" pitchFamily="34" charset="0"/>
              <a:buChar char="•"/>
            </a:pPr>
            <a:r>
              <a:rPr lang="en-US" sz="1200" b="0" i="0" kern="1200" baseline="0" dirty="0" smtClean="0">
                <a:solidFill>
                  <a:schemeClr val="tx1"/>
                </a:solidFill>
                <a:effectLst/>
                <a:latin typeface="+mn-lt"/>
                <a:ea typeface="+mn-ea"/>
                <a:cs typeface="+mn-cs"/>
              </a:rPr>
              <a:t>Exchange rate can be an issue</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Key markets; India, China, Africa (</a:t>
            </a:r>
            <a:r>
              <a:rPr lang="en-US" sz="1200" b="0" i="0" kern="1200" dirty="0" smtClean="0">
                <a:solidFill>
                  <a:schemeClr val="tx1"/>
                </a:solidFill>
                <a:effectLst/>
                <a:latin typeface="+mn-lt"/>
                <a:ea typeface="+mn-ea"/>
                <a:cs typeface="+mn-cs"/>
              </a:rPr>
              <a:t>new bottling plant in Myanmar 2013)</a:t>
            </a:r>
            <a:endParaRPr lang="en-US" sz="1200" b="0" i="0" kern="1200" baseline="0" dirty="0" smtClean="0">
              <a:solidFill>
                <a:schemeClr val="tx1"/>
              </a:solidFill>
              <a:effectLst/>
              <a:latin typeface="+mn-lt"/>
              <a:ea typeface="+mn-ea"/>
              <a:cs typeface="+mn-cs"/>
            </a:endParaRP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2014 Teamed with Keurig (10 year agreement)</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Purchased 16% of Monster Beverage Corp.</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Health concerns: noncarbonated products: </a:t>
            </a:r>
            <a:r>
              <a:rPr lang="en-US" sz="1200" b="0" i="0" kern="1200" dirty="0" smtClean="0">
                <a:solidFill>
                  <a:schemeClr val="tx1"/>
                </a:solidFill>
                <a:effectLst/>
                <a:latin typeface="+mn-lt"/>
                <a:ea typeface="+mn-ea"/>
                <a:cs typeface="+mn-cs"/>
              </a:rPr>
              <a:t>fruit juices, sports and energy drinks, and bottled water and tea beverages.</a:t>
            </a:r>
          </a:p>
          <a:p>
            <a:pPr marL="0" indent="0">
              <a:buFont typeface="Arial" panose="020B0604020202020204" pitchFamily="34" charset="0"/>
              <a:buNone/>
            </a:pPr>
            <a:endParaRPr lang="en-US" sz="1200" b="0" i="0" kern="1200" baseline="0" dirty="0" smtClean="0">
              <a:solidFill>
                <a:schemeClr val="tx1"/>
              </a:solidFill>
              <a:effectLst/>
              <a:latin typeface="+mn-lt"/>
              <a:ea typeface="+mn-ea"/>
              <a:cs typeface="+mn-cs"/>
            </a:endParaRP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Business Source Complete: http://helicon.vuw.ac.nz/login?url=http://search.ebscohost.com/login.aspx?direct=true&amp;db=bth&amp;AN=108385604&amp;site=ehost-live</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[image above]</a:t>
            </a:r>
          </a:p>
          <a:p>
            <a:pPr marL="0" indent="0">
              <a:buFont typeface="Arial" panose="020B0604020202020204" pitchFamily="34" charset="0"/>
              <a:buNone/>
            </a:pPr>
            <a:endParaRPr lang="en-US" sz="1200" b="0" i="0" kern="1200" baseline="0" dirty="0" smtClean="0">
              <a:solidFill>
                <a:schemeClr val="tx1"/>
              </a:solidFill>
              <a:effectLst/>
              <a:latin typeface="+mn-lt"/>
              <a:ea typeface="+mn-ea"/>
              <a:cs typeface="+mn-cs"/>
            </a:endParaRP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Cocacolacompany.com – scanning press releases, company statements, articles, etc.</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 - diversity – (company articles) – among “top 50 companies for diversity’</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 - 100% rating from the Human Rights Campaign for Corporate Equality Index</a:t>
            </a:r>
          </a:p>
          <a:p>
            <a:pPr marL="0" indent="0">
              <a:buFont typeface="Arial" panose="020B0604020202020204" pitchFamily="34" charset="0"/>
              <a:buNone/>
            </a:pPr>
            <a:r>
              <a:rPr lang="en-US" sz="1200" b="0" i="0" kern="1200" baseline="0" dirty="0" smtClean="0">
                <a:solidFill>
                  <a:schemeClr val="tx1"/>
                </a:solidFill>
                <a:effectLst/>
                <a:latin typeface="+mn-lt"/>
                <a:ea typeface="+mn-ea"/>
                <a:cs typeface="+mn-cs"/>
              </a:rPr>
              <a:t> - OK: Here is something I didn’t expect to find (not important for this project, but hmmm I wonder what map they used? USSR?): </a:t>
            </a:r>
            <a:r>
              <a:rPr lang="en-US" sz="1200" b="0" i="0" kern="1200" dirty="0" smtClean="0">
                <a:solidFill>
                  <a:schemeClr val="tx1"/>
                </a:solidFill>
                <a:effectLst/>
                <a:latin typeface="+mn-lt"/>
                <a:ea typeface="+mn-ea"/>
                <a:cs typeface="+mn-cs"/>
              </a:rPr>
              <a:t>The </a:t>
            </a:r>
            <a:r>
              <a:rPr lang="en-US" dirty="0" smtClean="0"/>
              <a:t>Coca-Cola</a:t>
            </a:r>
            <a:r>
              <a:rPr lang="en-US" sz="1200" b="0" i="0" kern="1200" dirty="0" smtClean="0">
                <a:solidFill>
                  <a:schemeClr val="tx1"/>
                </a:solidFill>
                <a:effectLst/>
                <a:latin typeface="+mn-lt"/>
                <a:ea typeface="+mn-ea"/>
                <a:cs typeface="+mn-cs"/>
              </a:rPr>
              <a:t> Russia team had a stylized map of Russia created as part of its Christmas campaign. The agency that created the map later made changes without our knowledge or approval. We, as a company, do not take political positions unrelated to our business, and we apologize for the post, which we have removed (http://www.coca-colacompany.com/press-center/company-statements/statement-on-coca-cola-russia-holiday-greeting)</a:t>
            </a:r>
          </a:p>
          <a:p>
            <a:pPr marL="0" indent="0">
              <a:buFont typeface="Arial" panose="020B0604020202020204" pitchFamily="34" charset="0"/>
              <a:buNone/>
            </a:pPr>
            <a:endParaRPr lang="en-US" sz="1200" b="0" i="0" kern="1200" baseline="0" dirty="0" smtClean="0">
              <a:solidFill>
                <a:schemeClr val="tx1"/>
              </a:solidFill>
              <a:effectLst/>
              <a:latin typeface="+mn-lt"/>
              <a:ea typeface="+mn-ea"/>
              <a:cs typeface="+mn-cs"/>
            </a:endParaRPr>
          </a:p>
          <a:p>
            <a:pPr marL="0" indent="0">
              <a:buFont typeface="Arial" panose="020B0604020202020204" pitchFamily="34" charset="0"/>
              <a:buNone/>
            </a:pPr>
            <a:r>
              <a:rPr lang="en-US" sz="1200" b="0" i="0" kern="1200" dirty="0" smtClean="0">
                <a:solidFill>
                  <a:schemeClr val="tx1"/>
                </a:solidFill>
                <a:effectLst/>
                <a:latin typeface="+mn-lt"/>
                <a:ea typeface="+mn-ea"/>
                <a:cs typeface="+mn-cs"/>
              </a:rPr>
              <a:t>***Company and its Bottling Partners Meet 2020 Water Replenishment Goal Five Years Early; Intend to Maintain Water Stewardship Performance as Business Continues to Grow: http://www.coca-colacompany.com/press-center/press-releases/coca-cola-is-the-first-fortune-500-company-to-replenish-all-the-water-it-uses-globally</a:t>
            </a:r>
            <a:endParaRPr lang="en-US" sz="1200" b="0" i="0" kern="1200" baseline="0" dirty="0" smtClean="0">
              <a:solidFill>
                <a:schemeClr val="tx1"/>
              </a:solidFill>
              <a:effectLst/>
              <a:latin typeface="+mn-lt"/>
              <a:ea typeface="+mn-ea"/>
              <a:cs typeface="+mn-cs"/>
            </a:endParaRPr>
          </a:p>
          <a:p>
            <a:pPr marL="0" indent="0">
              <a:buFont typeface="Arial" panose="020B0604020202020204" pitchFamily="34" charset="0"/>
              <a:buNone/>
            </a:pP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11</a:t>
            </a:fld>
            <a:endParaRPr lang="en-NZ"/>
          </a:p>
        </p:txBody>
      </p:sp>
    </p:spTree>
    <p:extLst>
      <p:ext uri="{BB962C8B-B14F-4D97-AF65-F5344CB8AC3E}">
        <p14:creationId xmlns:p14="http://schemas.microsoft.com/office/powerpoint/2010/main" val="62383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So – I</a:t>
            </a:r>
            <a:r>
              <a:rPr lang="en-NZ" baseline="0" dirty="0" smtClean="0"/>
              <a:t> can compare stats or recycling or employees, just about anything, but I am interested in sustainability initiatives. I am going to search a business database to see how they compare on issues and adoption</a:t>
            </a:r>
          </a:p>
          <a:p>
            <a:endParaRPr lang="en-NZ" baseline="0" dirty="0" smtClean="0"/>
          </a:p>
          <a:p>
            <a:r>
              <a:rPr lang="en-NZ" baseline="0" dirty="0" smtClean="0"/>
              <a:t>In Business Source Complete, I found 83 articles on Coca-Cola and Sustainability.</a:t>
            </a:r>
          </a:p>
          <a:p>
            <a:r>
              <a:rPr lang="en-NZ" baseline="0" dirty="0" smtClean="0"/>
              <a:t>In that set was: http://helicon.vuw.ac.nz/login?url=http://search.ebscohost.com/login.aspx?direct=true&amp;db=bth&amp;AN=101617918&amp;site=ehost-live</a:t>
            </a:r>
          </a:p>
          <a:p>
            <a:r>
              <a:rPr lang="en-NZ" dirty="0" smtClean="0"/>
              <a:t>2015 Sustainability Trends</a:t>
            </a:r>
          </a:p>
          <a:p>
            <a:r>
              <a:rPr lang="en-NZ" baseline="0" dirty="0" smtClean="0"/>
              <a:t>Maybe I can use this to review data from Coca-Cola and </a:t>
            </a:r>
            <a:r>
              <a:rPr lang="en-NZ" baseline="0" dirty="0" err="1" smtClean="0"/>
              <a:t>Pepsico</a:t>
            </a:r>
            <a:r>
              <a:rPr lang="en-NZ" baseline="0" dirty="0" smtClean="0"/>
              <a:t>:</a:t>
            </a:r>
          </a:p>
          <a:p>
            <a:pPr marL="171450" indent="-171450" rtl="0" eaLnBrk="1" fontAlgn="t" latinLnBrk="0" hangingPunct="1">
              <a:buFont typeface="Arial" panose="020B0604020202020204" pitchFamily="34" charset="0"/>
              <a:buChar char="•"/>
            </a:pPr>
            <a:r>
              <a:rPr lang="en-NZ" sz="1200" b="0" i="0" u="none" strike="noStrike" kern="1200" dirty="0" smtClean="0">
                <a:solidFill>
                  <a:schemeClr val="tx1"/>
                </a:solidFill>
                <a:effectLst/>
                <a:latin typeface="+mn-lt"/>
                <a:ea typeface="+mn-ea"/>
                <a:cs typeface="+mn-cs"/>
              </a:rPr>
              <a:t>Risk-based</a:t>
            </a:r>
            <a:r>
              <a:rPr lang="en-NZ" sz="1200" b="0" i="0" u="none" strike="noStrike" kern="1200" baseline="0" dirty="0" smtClean="0">
                <a:solidFill>
                  <a:schemeClr val="tx1"/>
                </a:solidFill>
                <a:effectLst/>
                <a:latin typeface="+mn-lt"/>
                <a:ea typeface="+mn-ea"/>
                <a:cs typeface="+mn-cs"/>
              </a:rPr>
              <a:t> thinking</a:t>
            </a:r>
            <a:endParaRPr lang="en-NZ" sz="1200" b="0" i="0" u="none" strike="noStrike" kern="1200" dirty="0" smtClean="0">
              <a:solidFill>
                <a:schemeClr val="tx1"/>
              </a:solidFill>
              <a:effectLst/>
              <a:latin typeface="+mn-lt"/>
              <a:ea typeface="+mn-ea"/>
              <a:cs typeface="+mn-cs"/>
            </a:endParaRPr>
          </a:p>
          <a:p>
            <a:pPr marL="171450" indent="-171450" rtl="0" eaLnBrk="1" fontAlgn="t" latinLnBrk="0" hangingPunct="1">
              <a:buFont typeface="Arial" panose="020B0604020202020204" pitchFamily="34" charset="0"/>
              <a:buChar char="•"/>
            </a:pPr>
            <a:r>
              <a:rPr lang="en-NZ" sz="1200" b="0" i="0" u="none" strike="noStrike" kern="1200" dirty="0" smtClean="0">
                <a:solidFill>
                  <a:schemeClr val="tx1"/>
                </a:solidFill>
                <a:effectLst/>
                <a:latin typeface="+mn-lt"/>
                <a:ea typeface="+mn-ea"/>
                <a:cs typeface="+mn-cs"/>
              </a:rPr>
              <a:t>Supplier sustainability assessments</a:t>
            </a:r>
          </a:p>
          <a:p>
            <a:pPr marL="171450" indent="-171450" rtl="0" eaLnBrk="1" fontAlgn="t" latinLnBrk="0" hangingPunct="1">
              <a:buFont typeface="Arial" panose="020B0604020202020204" pitchFamily="34" charset="0"/>
              <a:buChar char="•"/>
            </a:pPr>
            <a:r>
              <a:rPr lang="en-NZ" sz="1200" b="0" i="0" u="none" strike="noStrike" kern="1200" dirty="0" smtClean="0">
                <a:solidFill>
                  <a:schemeClr val="tx1"/>
                </a:solidFill>
                <a:effectLst/>
                <a:latin typeface="+mn-lt"/>
                <a:ea typeface="+mn-ea"/>
                <a:cs typeface="+mn-cs"/>
              </a:rPr>
              <a:t>Water scarcity</a:t>
            </a:r>
          </a:p>
          <a:p>
            <a:pPr marL="171450" indent="-171450" rtl="0" eaLnBrk="1" fontAlgn="t" latinLnBrk="0" hangingPunct="1">
              <a:buFont typeface="Arial" panose="020B0604020202020204" pitchFamily="34" charset="0"/>
              <a:buChar char="•"/>
            </a:pPr>
            <a:r>
              <a:rPr lang="en-NZ" sz="1200" b="0" i="0" u="none" strike="noStrike" kern="1200" baseline="0" dirty="0" smtClean="0">
                <a:solidFill>
                  <a:schemeClr val="tx1"/>
                </a:solidFill>
                <a:effectLst/>
                <a:latin typeface="+mn-lt"/>
                <a:ea typeface="+mn-ea"/>
                <a:cs typeface="+mn-cs"/>
              </a:rPr>
              <a:t>Reporting (well, they both have reports)</a:t>
            </a:r>
          </a:p>
          <a:p>
            <a:pPr marL="171450" indent="-171450" rtl="0" eaLnBrk="1" fontAlgn="t" latinLnBrk="0" hangingPunct="1">
              <a:buFont typeface="Arial" panose="020B0604020202020204" pitchFamily="34" charset="0"/>
              <a:buChar char="•"/>
            </a:pPr>
            <a:endParaRPr lang="en-NZ" baseline="0" dirty="0" smtClean="0"/>
          </a:p>
          <a:p>
            <a:pPr marL="0" indent="0" rtl="0" eaLnBrk="1" fontAlgn="t" latinLnBrk="0" hangingPunct="1">
              <a:buFont typeface="Arial" panose="020B0604020202020204" pitchFamily="34" charset="0"/>
              <a:buNone/>
            </a:pPr>
            <a:r>
              <a:rPr lang="en-NZ" baseline="0" dirty="0" smtClean="0"/>
              <a:t>I have downloaded sustainability reports for Coca-Cola, </a:t>
            </a:r>
            <a:r>
              <a:rPr lang="en-NZ" baseline="0" dirty="0" err="1" smtClean="0"/>
              <a:t>Pepsico</a:t>
            </a:r>
            <a:r>
              <a:rPr lang="en-NZ" baseline="0" dirty="0" smtClean="0"/>
              <a:t>, and Nestle (just in case). I have used an online tool to convert the PDFs for Coke and Pepsi into txt files.</a:t>
            </a:r>
            <a:endParaRPr lang="en-NZ" baseline="0" dirty="0" smtClean="0"/>
          </a:p>
          <a:p>
            <a:endParaRPr lang="en-NZ" baseline="0" dirty="0" smtClean="0"/>
          </a:p>
          <a:p>
            <a:r>
              <a:rPr lang="en-NZ" dirty="0" smtClean="0"/>
              <a:t>https://www.coca-colacompany.com/content/dam/journey/us/en/private/fileassets/pdf/2015/07/2014-2015-sustainability-report.15_080415.pdf</a:t>
            </a:r>
          </a:p>
          <a:p>
            <a:endParaRPr lang="en-NZ" dirty="0" smtClean="0"/>
          </a:p>
          <a:p>
            <a:r>
              <a:rPr lang="en-NZ" dirty="0" smtClean="0"/>
              <a:t>http://www.pepsico.com/docs/album/sustainability-reporting/pep_csr14_sus_overview.pdf</a:t>
            </a:r>
          </a:p>
          <a:p>
            <a:endParaRPr lang="en-NZ" dirty="0" smtClean="0"/>
          </a:p>
          <a:p>
            <a:r>
              <a:rPr lang="en-NZ" dirty="0" smtClean="0"/>
              <a:t>[both sites have</a:t>
            </a:r>
            <a:r>
              <a:rPr lang="en-NZ" baseline="0" dirty="0" smtClean="0"/>
              <a:t> sustainability pages too]</a:t>
            </a:r>
          </a:p>
          <a:p>
            <a:endParaRPr lang="en-NZ" baseline="0" dirty="0" smtClean="0"/>
          </a:p>
          <a:p>
            <a:r>
              <a:rPr lang="en-NZ" dirty="0" smtClean="0"/>
              <a:t>http://www.nestle.com/asset-library/Documents/Library/Documents/Corporate_Social_Responsibility/Nestle-in-Society-Summary-Report-2015-EN.pdf</a:t>
            </a:r>
          </a:p>
          <a:p>
            <a:endParaRPr lang="en-NZ" baseline="0" dirty="0" smtClean="0"/>
          </a:p>
        </p:txBody>
      </p:sp>
      <p:sp>
        <p:nvSpPr>
          <p:cNvPr id="4" name="Slide Number Placeholder 3"/>
          <p:cNvSpPr>
            <a:spLocks noGrp="1"/>
          </p:cNvSpPr>
          <p:nvPr>
            <p:ph type="sldNum" sz="quarter" idx="10"/>
          </p:nvPr>
        </p:nvSpPr>
        <p:spPr/>
        <p:txBody>
          <a:bodyPr/>
          <a:lstStyle/>
          <a:p>
            <a:fld id="{B3A1D2CA-1474-4220-9A24-8F3C146685B4}" type="slidenum">
              <a:rPr lang="en-NZ" smtClean="0"/>
              <a:t>12</a:t>
            </a:fld>
            <a:endParaRPr lang="en-NZ"/>
          </a:p>
        </p:txBody>
      </p:sp>
    </p:spTree>
    <p:extLst>
      <p:ext uri="{BB962C8B-B14F-4D97-AF65-F5344CB8AC3E}">
        <p14:creationId xmlns:p14="http://schemas.microsoft.com/office/powerpoint/2010/main" val="3309560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I</a:t>
            </a:r>
            <a:r>
              <a:rPr lang="en-NZ" baseline="0" dirty="0" smtClean="0"/>
              <a:t> do recommend keeping track of your process. I know that you are balancing multiple deadlines, so adding notes and a few links to a document or a </a:t>
            </a:r>
            <a:r>
              <a:rPr lang="en-NZ" baseline="0" dirty="0" err="1" smtClean="0"/>
              <a:t>ppt</a:t>
            </a:r>
            <a:r>
              <a:rPr lang="en-NZ" baseline="0" dirty="0" smtClean="0"/>
              <a:t> can save you a lot of backtracking in the future.</a:t>
            </a:r>
          </a:p>
          <a:p>
            <a:endParaRPr lang="en-NZ" baseline="0" dirty="0" smtClean="0"/>
          </a:p>
          <a:p>
            <a:r>
              <a:rPr lang="en-NZ" baseline="0" dirty="0" smtClean="0"/>
              <a:t>I am also getting APA citations or creating them along the way. EBSCO’s citations for the Annual reports were not standard. I looked up the appropriate format and edited it so I don’t have </a:t>
            </a:r>
            <a:r>
              <a:rPr lang="en-NZ" baseline="0" smtClean="0"/>
              <a:t>to later.</a:t>
            </a:r>
            <a:endParaRPr lang="en-NZ" dirty="0"/>
          </a:p>
        </p:txBody>
      </p:sp>
      <p:sp>
        <p:nvSpPr>
          <p:cNvPr id="4" name="Slide Number Placeholder 3"/>
          <p:cNvSpPr>
            <a:spLocks noGrp="1"/>
          </p:cNvSpPr>
          <p:nvPr>
            <p:ph type="sldNum" sz="quarter" idx="10"/>
          </p:nvPr>
        </p:nvSpPr>
        <p:spPr/>
        <p:txBody>
          <a:bodyPr/>
          <a:lstStyle/>
          <a:p>
            <a:fld id="{B3A1D2CA-1474-4220-9A24-8F3C146685B4}" type="slidenum">
              <a:rPr lang="en-NZ" smtClean="0"/>
              <a:t>13</a:t>
            </a:fld>
            <a:endParaRPr lang="en-NZ"/>
          </a:p>
        </p:txBody>
      </p:sp>
    </p:spTree>
    <p:extLst>
      <p:ext uri="{BB962C8B-B14F-4D97-AF65-F5344CB8AC3E}">
        <p14:creationId xmlns:p14="http://schemas.microsoft.com/office/powerpoint/2010/main" val="2396917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NZ"/>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NZ"/>
          </a:p>
        </p:txBody>
      </p:sp>
      <p:sp>
        <p:nvSpPr>
          <p:cNvPr id="4" name="Date Placeholder 3"/>
          <p:cNvSpPr>
            <a:spLocks noGrp="1"/>
          </p:cNvSpPr>
          <p:nvPr>
            <p:ph type="dt" sz="half" idx="10"/>
          </p:nvPr>
        </p:nvSpPr>
        <p:spPr/>
        <p:txBody>
          <a:bodyPr/>
          <a:lstStyle/>
          <a:p>
            <a:fld id="{A972D46E-87A0-4AA5-AE11-311C2E7F7BD5}" type="datetimeFigureOut">
              <a:rPr lang="en-NZ" smtClean="0"/>
              <a:t>7/10/2016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113157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Date Placeholder 3"/>
          <p:cNvSpPr>
            <a:spLocks noGrp="1"/>
          </p:cNvSpPr>
          <p:nvPr>
            <p:ph type="dt" sz="half" idx="10"/>
          </p:nvPr>
        </p:nvSpPr>
        <p:spPr/>
        <p:txBody>
          <a:bodyPr/>
          <a:lstStyle/>
          <a:p>
            <a:fld id="{A972D46E-87A0-4AA5-AE11-311C2E7F7BD5}" type="datetimeFigureOut">
              <a:rPr lang="en-NZ" smtClean="0"/>
              <a:t>7/10/2016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101880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NZ"/>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72D46E-87A0-4AA5-AE11-311C2E7F7BD5}" type="datetimeFigureOut">
              <a:rPr lang="en-NZ" smtClean="0"/>
              <a:t>7/10/2016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264441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5" name="Date Placeholder 4"/>
          <p:cNvSpPr>
            <a:spLocks noGrp="1"/>
          </p:cNvSpPr>
          <p:nvPr>
            <p:ph type="dt" sz="half" idx="10"/>
          </p:nvPr>
        </p:nvSpPr>
        <p:spPr/>
        <p:txBody>
          <a:bodyPr/>
          <a:lstStyle/>
          <a:p>
            <a:fld id="{A972D46E-87A0-4AA5-AE11-311C2E7F7BD5}" type="datetimeFigureOut">
              <a:rPr lang="en-NZ" smtClean="0"/>
              <a:t>7/10/2016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131626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NZ"/>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7" name="Date Placeholder 6"/>
          <p:cNvSpPr>
            <a:spLocks noGrp="1"/>
          </p:cNvSpPr>
          <p:nvPr>
            <p:ph type="dt" sz="half" idx="10"/>
          </p:nvPr>
        </p:nvSpPr>
        <p:spPr/>
        <p:txBody>
          <a:bodyPr/>
          <a:lstStyle/>
          <a:p>
            <a:fld id="{A972D46E-87A0-4AA5-AE11-311C2E7F7BD5}" type="datetimeFigureOut">
              <a:rPr lang="en-NZ" smtClean="0"/>
              <a:t>7/10/2016</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2440743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Date Placeholder 2"/>
          <p:cNvSpPr>
            <a:spLocks noGrp="1"/>
          </p:cNvSpPr>
          <p:nvPr>
            <p:ph type="dt" sz="half" idx="10"/>
          </p:nvPr>
        </p:nvSpPr>
        <p:spPr/>
        <p:txBody>
          <a:bodyPr/>
          <a:lstStyle/>
          <a:p>
            <a:fld id="{A972D46E-87A0-4AA5-AE11-311C2E7F7BD5}" type="datetimeFigureOut">
              <a:rPr lang="en-NZ" smtClean="0"/>
              <a:t>7/10/2016</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2221393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2D46E-87A0-4AA5-AE11-311C2E7F7BD5}" type="datetimeFigureOut">
              <a:rPr lang="en-NZ" smtClean="0"/>
              <a:t>7/10/2016</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2421853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NZ"/>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72D46E-87A0-4AA5-AE11-311C2E7F7BD5}" type="datetimeFigureOut">
              <a:rPr lang="en-NZ" smtClean="0"/>
              <a:t>7/10/2016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355388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NZ"/>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72D46E-87A0-4AA5-AE11-311C2E7F7BD5}" type="datetimeFigureOut">
              <a:rPr lang="en-NZ" smtClean="0"/>
              <a:t>7/10/2016</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225929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NZ"/>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Date Placeholder 3"/>
          <p:cNvSpPr>
            <a:spLocks noGrp="1"/>
          </p:cNvSpPr>
          <p:nvPr>
            <p:ph type="dt" sz="half" idx="10"/>
          </p:nvPr>
        </p:nvSpPr>
        <p:spPr/>
        <p:txBody>
          <a:bodyPr/>
          <a:lstStyle/>
          <a:p>
            <a:fld id="{A972D46E-87A0-4AA5-AE11-311C2E7F7BD5}" type="datetimeFigureOut">
              <a:rPr lang="en-NZ" smtClean="0"/>
              <a:t>7/10/2016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3185454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NZ"/>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Date Placeholder 3"/>
          <p:cNvSpPr>
            <a:spLocks noGrp="1"/>
          </p:cNvSpPr>
          <p:nvPr>
            <p:ph type="dt" sz="half" idx="10"/>
          </p:nvPr>
        </p:nvSpPr>
        <p:spPr/>
        <p:txBody>
          <a:bodyPr/>
          <a:lstStyle/>
          <a:p>
            <a:fld id="{A972D46E-87A0-4AA5-AE11-311C2E7F7BD5}" type="datetimeFigureOut">
              <a:rPr lang="en-NZ" smtClean="0"/>
              <a:t>7/10/2016</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BF835D97-C699-4EDB-9983-7CD4D4460725}" type="slidenum">
              <a:rPr lang="en-NZ" smtClean="0"/>
              <a:t>‹#›</a:t>
            </a:fld>
            <a:endParaRPr lang="en-NZ"/>
          </a:p>
        </p:txBody>
      </p:sp>
    </p:spTree>
    <p:extLst>
      <p:ext uri="{BB962C8B-B14F-4D97-AF65-F5344CB8AC3E}">
        <p14:creationId xmlns:p14="http://schemas.microsoft.com/office/powerpoint/2010/main" val="1316572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NZ"/>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2D46E-87A0-4AA5-AE11-311C2E7F7BD5}" type="datetimeFigureOut">
              <a:rPr lang="en-NZ" smtClean="0"/>
              <a:t>7/10/2016</a:t>
            </a:fld>
            <a:endParaRPr lang="en-NZ"/>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835D97-C699-4EDB-9983-7CD4D4460725}" type="slidenum">
              <a:rPr lang="en-NZ" smtClean="0"/>
              <a:t>‹#›</a:t>
            </a:fld>
            <a:endParaRPr lang="en-NZ"/>
          </a:p>
        </p:txBody>
      </p:sp>
    </p:spTree>
    <p:extLst>
      <p:ext uri="{BB962C8B-B14F-4D97-AF65-F5344CB8AC3E}">
        <p14:creationId xmlns:p14="http://schemas.microsoft.com/office/powerpoint/2010/main" val="3545887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coca-colacompany.com/infographic-journey-by-the-number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helicon.vuw.ac.nz/login?url=http://search.ebscohost.com/login.aspx?direct=true&amp;db=bth&amp;bquery=%26quot;coca+cola%26quot;&amp;type=1&amp;site=ehost-live" TargetMode="External"/><Relationship Id="rId4" Type="http://schemas.openxmlformats.org/officeDocument/2006/relationships/hyperlink" Target="http://www.coca-colacompany.com/our-company/infographic-coca-cola-at-a-glance"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library.victoria.ac.nz/library-v2/research-and-study-help/databases-az"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3" Type="http://schemas.openxmlformats.org/officeDocument/2006/relationships/hyperlink" Target="http://cobrands.hoovers.com/company/DANONE/crkkci-1-1njhw5.html" TargetMode="External"/><Relationship Id="rId18" Type="http://schemas.openxmlformats.org/officeDocument/2006/relationships/hyperlink" Target="http://cobrands.hoovers.com/company/Fresh_Del_Monte_Produce_Inc/hhfrti-1-1njhw5.html" TargetMode="External"/><Relationship Id="rId26" Type="http://schemas.openxmlformats.org/officeDocument/2006/relationships/hyperlink" Target="http://cobrands.hoovers.com/company/KIRIN_HOLDINGS_COMPANY_LIMITED/crkjxi-1-1njhw5.html" TargetMode="External"/><Relationship Id="rId39" Type="http://schemas.openxmlformats.org/officeDocument/2006/relationships/hyperlink" Target="http://cobrands.hoovers.com/company/PERNOD_RICARD/cjsiff-1-1njhw5.html" TargetMode="External"/><Relationship Id="rId3" Type="http://schemas.openxmlformats.org/officeDocument/2006/relationships/hyperlink" Target="http://cobrands.hoovers.com/company/AMERICAN_BEVERAGE_CORPORATION/rrtkhri-1-1njhw5.html" TargetMode="External"/><Relationship Id="rId21" Type="http://schemas.openxmlformats.org/officeDocument/2006/relationships/hyperlink" Target="http://cobrands.hoovers.com/company/HORNELL_BREWING_CO_INC/ctrfji-1-1njhw5.html" TargetMode="External"/><Relationship Id="rId34" Type="http://schemas.openxmlformats.org/officeDocument/2006/relationships/hyperlink" Target="http://cobrands.hoovers.com/company/Naumes_Inc/rrhckif-1-1njhw5.html" TargetMode="External"/><Relationship Id="rId42" Type="http://schemas.openxmlformats.org/officeDocument/2006/relationships/hyperlink" Target="http://cobrands.hoovers.com/company/South_Beach_Beverage_Company_Inc/sskfyi-1-1njhw5.html" TargetMode="External"/><Relationship Id="rId47" Type="http://schemas.openxmlformats.org/officeDocument/2006/relationships/hyperlink" Target="http://cobrands.hoovers.com/company/Tree_Top_Inc/hxxkji-1-1njhw5.html" TargetMode="External"/><Relationship Id="rId50" Type="http://schemas.openxmlformats.org/officeDocument/2006/relationships/hyperlink" Target="http://cobrands.hoovers.com/company/WELCH_FOODS_INC_A_COOPERATIVE/rtxryti-1-1njhw5.html" TargetMode="External"/><Relationship Id="rId7" Type="http://schemas.openxmlformats.org/officeDocument/2006/relationships/hyperlink" Target="http://cobrands.hoovers.com/company/CHIQUITA_BRANDS_INTERNATIONAL_INC/rrhhri-1-1njhw5.html" TargetMode="External"/><Relationship Id="rId12" Type="http://schemas.openxmlformats.org/officeDocument/2006/relationships/hyperlink" Target="http://cobrands.hoovers.com/company/Northland_Cranberries_Inc/rctkki-1-1njhw5.html" TargetMode="External"/><Relationship Id="rId17" Type="http://schemas.openxmlformats.org/officeDocument/2006/relationships/hyperlink" Target="http://cobrands.hoovers.com/company/Fiji_Water_Company_LLC/rtfyyti-1-1njhw5.html" TargetMode="External"/><Relationship Id="rId25" Type="http://schemas.openxmlformats.org/officeDocument/2006/relationships/hyperlink" Target="http://cobrands.hoovers.com/company/JONES_SODA_CO/rfxfski-1-1njhw5.html" TargetMode="External"/><Relationship Id="rId33" Type="http://schemas.openxmlformats.org/officeDocument/2006/relationships/hyperlink" Target="http://cobrands.hoovers.com/company/NATIONAL_BEVERAGE_CORP/ryscki-1-1njhw5.html" TargetMode="External"/><Relationship Id="rId38" Type="http://schemas.openxmlformats.org/officeDocument/2006/relationships/hyperlink" Target="http://cobrands.hoovers.com/company/PEPSICO_INC/rrrjji-1-1njhw5.html" TargetMode="External"/><Relationship Id="rId46" Type="http://schemas.openxmlformats.org/officeDocument/2006/relationships/hyperlink" Target="http://cobrands.hoovers.com/company/SUNTORY_HOLDINGS_LIMITED/hthrki-1-1njhw5.html" TargetMode="External"/><Relationship Id="rId2" Type="http://schemas.openxmlformats.org/officeDocument/2006/relationships/notesSlide" Target="../notesSlides/notesSlide7.xml"/><Relationship Id="rId16" Type="http://schemas.openxmlformats.org/officeDocument/2006/relationships/hyperlink" Target="http://cobrands.hoovers.com/company/Faygo_Beverages_Inc/rrhrjxi-1-1njhw5.html" TargetMode="External"/><Relationship Id="rId20" Type="http://schemas.openxmlformats.org/officeDocument/2006/relationships/hyperlink" Target="http://cobrands.hoovers.com/company/Hawaiian_Springs_LLC/htxssi-1-1njhw5.html" TargetMode="External"/><Relationship Id="rId29" Type="http://schemas.openxmlformats.org/officeDocument/2006/relationships/hyperlink" Target="http://cobrands.hoovers.com/company/THE_MONARCH_BEVERAGE_COMPANY_INC/ryrskci-1-1njhw5.html" TargetMode="External"/><Relationship Id="rId41" Type="http://schemas.openxmlformats.org/officeDocument/2006/relationships/hyperlink" Target="http://cobrands.hoovers.com/company/Silver_Springs_Citrus_Inc/ryfjjci-1-1njhw5.html" TargetMode="External"/><Relationship Id="rId1" Type="http://schemas.openxmlformats.org/officeDocument/2006/relationships/slideLayout" Target="../slideLayouts/slideLayout4.xml"/><Relationship Id="rId6" Type="http://schemas.openxmlformats.org/officeDocument/2006/relationships/hyperlink" Target="http://cobrands.hoovers.com/company/BRITVIC_PLC/rtcjfxi-1-1njhw5.html" TargetMode="External"/><Relationship Id="rId11" Type="http://schemas.openxmlformats.org/officeDocument/2006/relationships/hyperlink" Target="http://cobrands.hoovers.com/company/Cott_Corporation/ctxcji-1-1njhw5.html" TargetMode="External"/><Relationship Id="rId24" Type="http://schemas.openxmlformats.org/officeDocument/2006/relationships/hyperlink" Target="http://cobrands.hoovers.com/company/JAMBA_INC/ssyhsi-1-1njhw5.html" TargetMode="External"/><Relationship Id="rId32" Type="http://schemas.openxmlformats.org/officeDocument/2006/relationships/hyperlink" Target="http://cobrands.hoovers.com/company/Naked_Juice_Co_of_Glendora_Inc/rfycsif-1-1njhw5.html" TargetMode="External"/><Relationship Id="rId37" Type="http://schemas.openxmlformats.org/officeDocument/2006/relationships/hyperlink" Target="http://cobrands.hoovers.com/company/Old_Orchard_Brands_LLC/rrctchi-1-1njhw5.html" TargetMode="External"/><Relationship Id="rId40" Type="http://schemas.openxmlformats.org/officeDocument/2006/relationships/hyperlink" Target="http://cobrands.hoovers.com/company/Red_Bull_GmbH/rfryrji-1-1njhw5.html" TargetMode="External"/><Relationship Id="rId45" Type="http://schemas.openxmlformats.org/officeDocument/2006/relationships/hyperlink" Target="http://cobrands.hoovers.com/company/Sunny_Delight_Beverage_Co/rcytfri-1-1njhw5.html" TargetMode="External"/><Relationship Id="rId5" Type="http://schemas.openxmlformats.org/officeDocument/2006/relationships/hyperlink" Target="http://cobrands.hoovers.com/company/Big_Heart_Pet_Brands/cfrrxi-1-1njhw5.html" TargetMode="External"/><Relationship Id="rId15" Type="http://schemas.openxmlformats.org/officeDocument/2006/relationships/hyperlink" Target="http://cobrands.hoovers.com/company/Dr_Pepper_Snapple_Group_Inc/rfychxi-1-1njhw5.html" TargetMode="External"/><Relationship Id="rId23" Type="http://schemas.openxmlformats.org/officeDocument/2006/relationships/hyperlink" Target="http://cobrands.hoovers.com/company/Impulse_Energy_USA_Corp/rytkxyi-1-1njhw5.html" TargetMode="External"/><Relationship Id="rId28" Type="http://schemas.openxmlformats.org/officeDocument/2006/relationships/hyperlink" Target="http://cobrands.hoovers.com/company/Leading_Brands_Inc/chtjhi-1-1njhw5.html" TargetMode="External"/><Relationship Id="rId36" Type="http://schemas.openxmlformats.org/officeDocument/2006/relationships/hyperlink" Target="http://cobrands.hoovers.com/company/Ocean_Spray_Cranberries_Inc/cfycji-1-1njhw5.html" TargetMode="External"/><Relationship Id="rId49" Type="http://schemas.openxmlformats.org/officeDocument/2006/relationships/hyperlink" Target="http://cobrands.hoovers.com/company/Unilever/crxhif-1-1njhw5.html" TargetMode="External"/><Relationship Id="rId10" Type="http://schemas.openxmlformats.org/officeDocument/2006/relationships/hyperlink" Target="http://cobrands.hoovers.com/company/LASSONDE_PAPPAS_AND_COMPANY_INC/rrrsfyi-1-1njhw5.html" TargetMode="External"/><Relationship Id="rId19" Type="http://schemas.openxmlformats.org/officeDocument/2006/relationships/hyperlink" Target="http://cobrands.hoovers.com/company/Great_Western_Juice_Company/rtchjxi-1-1njhw5.html" TargetMode="External"/><Relationship Id="rId31" Type="http://schemas.openxmlformats.org/officeDocument/2006/relationships/hyperlink" Target="http://cobrands.hoovers.com/company/Mountain_Valley_Spring_Company_LLC/rrcckji-1-1njhw5.html" TargetMode="External"/><Relationship Id="rId44" Type="http://schemas.openxmlformats.org/officeDocument/2006/relationships/hyperlink" Target="http://cobrands.hoovers.com/company/Sun-Rype_Products_Ltd/rrxrtji-1-1njhw5.html" TargetMode="External"/><Relationship Id="rId4" Type="http://schemas.openxmlformats.org/officeDocument/2006/relationships/hyperlink" Target="http://cobrands.hoovers.com/company/Aquaterra_Corporation/hxfxci-1-1njhw5.html" TargetMode="External"/><Relationship Id="rId9" Type="http://schemas.openxmlformats.org/officeDocument/2006/relationships/hyperlink" Target="http://cobrands.hoovers.com/company/Clearly_Canadian_Beverage_Corporation/ctxsji-1-1njhw5.html" TargetMode="External"/><Relationship Id="rId14" Type="http://schemas.openxmlformats.org/officeDocument/2006/relationships/hyperlink" Target="http://cobrands.hoovers.com/company/DOLE_FOOD_COMPANY_INC/rfyfyi-1-1njhw5.html" TargetMode="External"/><Relationship Id="rId22" Type="http://schemas.openxmlformats.org/officeDocument/2006/relationships/hyperlink" Target="http://cobrands.hoovers.com/company/Izze_Beverage_Co/rrkcjif-1-1njhw5.html" TargetMode="External"/><Relationship Id="rId27" Type="http://schemas.openxmlformats.org/officeDocument/2006/relationships/hyperlink" Target="http://cobrands.hoovers.com/company/Industries_Lassonde_Inc/rrrfrsi-1-1njhw5.html" TargetMode="External"/><Relationship Id="rId30" Type="http://schemas.openxmlformats.org/officeDocument/2006/relationships/hyperlink" Target="http://cobrands.hoovers.com/company/MONDELEZ_INTERNATIONAL_INC/rfyysti-1-1njhw5.html" TargetMode="External"/><Relationship Id="rId35" Type="http://schemas.openxmlformats.org/officeDocument/2006/relationships/hyperlink" Target="http://cobrands.hoovers.com/company/Nestl%C3%A9_SA/crxrhi-1-1njhw5.html" TargetMode="External"/><Relationship Id="rId43" Type="http://schemas.openxmlformats.org/officeDocument/2006/relationships/hyperlink" Target="http://cobrands.hoovers.com/company/Southern_Gardens_Citrus_Holding_Corporation/ryrjyti-1-1njhw5.html" TargetMode="External"/><Relationship Id="rId48" Type="http://schemas.openxmlformats.org/officeDocument/2006/relationships/hyperlink" Target="http://cobrands.hoovers.com/company/True_Drinks_Holdings_Inc/ryxtfti-1-1njhw5.html" TargetMode="External"/><Relationship Id="rId8" Type="http://schemas.openxmlformats.org/officeDocument/2006/relationships/hyperlink" Target="http://cobrands.hoovers.com/company/CITRUS_WORLD_INC/ckksxi-1-1njhw5.html" TargetMode="External"/><Relationship Id="rId51" Type="http://schemas.openxmlformats.org/officeDocument/2006/relationships/hyperlink" Target="http://cobrands.hoovers.com/company/THE_JOLT_COMPANY_INC/rtchsti-1-1njhw5.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www.coca-colacompany.com/water-stewardship-replenish-repor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NZ" dirty="0" smtClean="0"/>
              <a:t>Final Project Process</a:t>
            </a:r>
            <a:endParaRPr lang="en-NZ" dirty="0"/>
          </a:p>
        </p:txBody>
      </p:sp>
      <p:sp>
        <p:nvSpPr>
          <p:cNvPr id="3" name="Subtitle 2"/>
          <p:cNvSpPr>
            <a:spLocks noGrp="1"/>
          </p:cNvSpPr>
          <p:nvPr>
            <p:ph type="subTitle" idx="1"/>
          </p:nvPr>
        </p:nvSpPr>
        <p:spPr/>
        <p:txBody>
          <a:bodyPr/>
          <a:lstStyle/>
          <a:p>
            <a:r>
              <a:rPr lang="en-NZ" dirty="0" smtClean="0"/>
              <a:t>My Coca Cola story</a:t>
            </a:r>
            <a:endParaRPr lang="en-NZ" dirty="0"/>
          </a:p>
        </p:txBody>
      </p:sp>
    </p:spTree>
    <p:extLst>
      <p:ext uri="{BB962C8B-B14F-4D97-AF65-F5344CB8AC3E}">
        <p14:creationId xmlns:p14="http://schemas.microsoft.com/office/powerpoint/2010/main" val="3268774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The assessment</a:t>
            </a:r>
            <a:endParaRPr lang="en-NZ" dirty="0"/>
          </a:p>
        </p:txBody>
      </p:sp>
      <p:sp>
        <p:nvSpPr>
          <p:cNvPr id="3" name="Content Placeholder 2"/>
          <p:cNvSpPr>
            <a:spLocks noGrp="1"/>
          </p:cNvSpPr>
          <p:nvPr>
            <p:ph idx="1"/>
          </p:nvPr>
        </p:nvSpPr>
        <p:spPr/>
        <p:txBody>
          <a:bodyPr>
            <a:normAutofit/>
          </a:bodyPr>
          <a:lstStyle/>
          <a:p>
            <a:pPr marL="0" indent="0">
              <a:buNone/>
            </a:pPr>
            <a:r>
              <a:rPr lang="en-US" sz="1600" dirty="0"/>
              <a:t>Your manager has asked for an analysis of your organization's strengths and weaknesses. Your analysis will be forwarded to your CEO to present at a board meeting. Your manager has asked for the following elements in a PowerPoint presentation:</a:t>
            </a:r>
          </a:p>
          <a:p>
            <a:r>
              <a:rPr lang="en-US" sz="1600" dirty="0"/>
              <a:t>The organization’s objective and a brief description (your CEO is on the road and may not have access to this data).</a:t>
            </a:r>
          </a:p>
          <a:p>
            <a:r>
              <a:rPr lang="en-US" sz="1600" dirty="0"/>
              <a:t>SWOT analysis: identifying the strengths</a:t>
            </a:r>
            <a:r>
              <a:rPr lang="en-US" sz="1600" dirty="0" smtClean="0"/>
              <a:t>, weaknesses</a:t>
            </a:r>
            <a:r>
              <a:rPr lang="en-US" sz="1600" dirty="0"/>
              <a:t>, opportunities, and threats to your organization</a:t>
            </a:r>
          </a:p>
          <a:p>
            <a:r>
              <a:rPr lang="en-US" sz="1600" dirty="0"/>
              <a:t>Comparison statistics with similar organization.</a:t>
            </a:r>
          </a:p>
          <a:p>
            <a:r>
              <a:rPr lang="en-US" sz="1600" dirty="0"/>
              <a:t>Descriptive statistics for a business problem you identified in your SWOT.</a:t>
            </a:r>
          </a:p>
          <a:p>
            <a:r>
              <a:rPr lang="en-US" sz="1600" dirty="0"/>
              <a:t>Word cloud related to your SWOT (consider searching for articles or data about your company, products, customers, </a:t>
            </a:r>
            <a:r>
              <a:rPr lang="en-US" sz="1600" dirty="0" err="1"/>
              <a:t>etc</a:t>
            </a:r>
            <a:r>
              <a:rPr lang="en-US" sz="1600" dirty="0"/>
              <a:t>)</a:t>
            </a:r>
          </a:p>
          <a:p>
            <a:r>
              <a:rPr lang="en-US" sz="1600" dirty="0"/>
              <a:t>1 slide with your choice of analysis using a data mining tool</a:t>
            </a:r>
          </a:p>
          <a:p>
            <a:pPr marL="0" indent="0">
              <a:buNone/>
            </a:pPr>
            <a:r>
              <a:rPr lang="en-US" sz="1600" dirty="0"/>
              <a:t>The CEO may not have time to read the content deeply. Your PowerPoint should contain extensive notes to assist the CEO. Include information on the types analytics used, why they are useful, and what the results identify.</a:t>
            </a:r>
          </a:p>
          <a:p>
            <a:r>
              <a:rPr lang="en-US" sz="1600" dirty="0"/>
              <a:t>Be sure there is an organization that you can compare content to in a meaningful way. Consider examining a similar organization or one with the same scope (NZ to NZ; International to International). You may also consider companies that have accounts your would like to emulate or use as a benchmark.</a:t>
            </a:r>
          </a:p>
          <a:p>
            <a:r>
              <a:rPr lang="en-US" sz="1600" dirty="0"/>
              <a:t>Include your datasets as an attachment</a:t>
            </a:r>
            <a:r>
              <a:rPr lang="en-US" sz="1600" dirty="0" smtClean="0"/>
              <a:t>.</a:t>
            </a:r>
            <a:endParaRPr lang="en-US" sz="1600" dirty="0"/>
          </a:p>
        </p:txBody>
      </p:sp>
    </p:spTree>
    <p:extLst>
      <p:ext uri="{BB962C8B-B14F-4D97-AF65-F5344CB8AC3E}">
        <p14:creationId xmlns:p14="http://schemas.microsoft.com/office/powerpoint/2010/main" val="1860751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Decide on company</a:t>
            </a:r>
            <a:endParaRPr lang="en-NZ" dirty="0"/>
          </a:p>
        </p:txBody>
      </p:sp>
      <p:sp>
        <p:nvSpPr>
          <p:cNvPr id="3" name="Content Placeholder 2"/>
          <p:cNvSpPr>
            <a:spLocks noGrp="1"/>
          </p:cNvSpPr>
          <p:nvPr>
            <p:ph idx="1"/>
          </p:nvPr>
        </p:nvSpPr>
        <p:spPr/>
        <p:txBody>
          <a:bodyPr/>
          <a:lstStyle/>
          <a:p>
            <a:r>
              <a:rPr lang="en-NZ" dirty="0" smtClean="0"/>
              <a:t>I chose Coca Cola because I know a bit about the company from previous work.</a:t>
            </a:r>
          </a:p>
          <a:p>
            <a:r>
              <a:rPr lang="en-NZ" dirty="0" smtClean="0"/>
              <a:t>I know there are many issues Coca Cola has been dealing with, like:</a:t>
            </a:r>
          </a:p>
          <a:p>
            <a:pPr lvl="1"/>
            <a:r>
              <a:rPr lang="en-NZ" dirty="0" smtClean="0"/>
              <a:t>Water consumption</a:t>
            </a:r>
          </a:p>
          <a:p>
            <a:pPr lvl="1"/>
            <a:r>
              <a:rPr lang="en-NZ" dirty="0" smtClean="0"/>
              <a:t>Recycling</a:t>
            </a:r>
          </a:p>
          <a:p>
            <a:pPr lvl="1"/>
            <a:r>
              <a:rPr lang="en-NZ" dirty="0" smtClean="0"/>
              <a:t>Sugar/corn syrup</a:t>
            </a:r>
          </a:p>
          <a:p>
            <a:pPr lvl="1"/>
            <a:r>
              <a:rPr lang="en-NZ" dirty="0" smtClean="0"/>
              <a:t>Advertising to children…</a:t>
            </a:r>
            <a:endParaRPr lang="en-NZ" dirty="0"/>
          </a:p>
        </p:txBody>
      </p:sp>
    </p:spTree>
    <p:extLst>
      <p:ext uri="{BB962C8B-B14F-4D97-AF65-F5344CB8AC3E}">
        <p14:creationId xmlns:p14="http://schemas.microsoft.com/office/powerpoint/2010/main" val="3703343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Focus</a:t>
            </a:r>
            <a:endParaRPr lang="en-NZ" dirty="0"/>
          </a:p>
        </p:txBody>
      </p:sp>
      <p:pic>
        <p:nvPicPr>
          <p:cNvPr id="1026" name="Picture 2" descr="https://www.oxfamamerica.org/static/media/files/Behind-the-brands-illusion-of-choice-graphic-2048x1351.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4760" y="487045"/>
            <a:ext cx="8890000" cy="5864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061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Organization’s </a:t>
            </a:r>
            <a:r>
              <a:rPr lang="en-US" dirty="0"/>
              <a:t>objective and a brief description</a:t>
            </a:r>
            <a:endParaRPr lang="en-NZ" dirty="0"/>
          </a:p>
        </p:txBody>
      </p:sp>
      <p:sp>
        <p:nvSpPr>
          <p:cNvPr id="3" name="Content Placeholder 2"/>
          <p:cNvSpPr>
            <a:spLocks noGrp="1"/>
          </p:cNvSpPr>
          <p:nvPr>
            <p:ph idx="1"/>
          </p:nvPr>
        </p:nvSpPr>
        <p:spPr/>
        <p:txBody>
          <a:bodyPr>
            <a:normAutofit lnSpcReduction="10000"/>
          </a:bodyPr>
          <a:lstStyle/>
          <a:p>
            <a:r>
              <a:rPr lang="en-NZ" dirty="0" smtClean="0"/>
              <a:t>Possible sources</a:t>
            </a:r>
          </a:p>
          <a:p>
            <a:pPr lvl="1"/>
            <a:r>
              <a:rPr lang="en-NZ" dirty="0"/>
              <a:t>Google </a:t>
            </a:r>
            <a:endParaRPr lang="en-NZ" dirty="0" smtClean="0"/>
          </a:p>
          <a:p>
            <a:pPr lvl="2"/>
            <a:r>
              <a:rPr lang="en-NZ" dirty="0" smtClean="0">
                <a:hlinkClick r:id="rId3"/>
              </a:rPr>
              <a:t>http</a:t>
            </a:r>
            <a:r>
              <a:rPr lang="en-NZ" dirty="0">
                <a:hlinkClick r:id="rId3"/>
              </a:rPr>
              <a:t>://</a:t>
            </a:r>
            <a:r>
              <a:rPr lang="en-NZ" dirty="0" smtClean="0">
                <a:hlinkClick r:id="rId3"/>
              </a:rPr>
              <a:t>www.coca-colacompany.com/infographic-journey-by-the-numbers</a:t>
            </a:r>
            <a:endParaRPr lang="en-NZ" dirty="0" smtClean="0"/>
          </a:p>
          <a:p>
            <a:pPr lvl="1"/>
            <a:r>
              <a:rPr lang="en-NZ" dirty="0" smtClean="0"/>
              <a:t>Coca-colacompany.com</a:t>
            </a:r>
          </a:p>
          <a:p>
            <a:pPr lvl="2"/>
            <a:r>
              <a:rPr lang="en-NZ" dirty="0">
                <a:hlinkClick r:id="rId4"/>
              </a:rPr>
              <a:t>http://</a:t>
            </a:r>
            <a:r>
              <a:rPr lang="en-NZ" dirty="0" smtClean="0">
                <a:hlinkClick r:id="rId4"/>
              </a:rPr>
              <a:t>www.coca-colacompany.com/our-company/infographic-coca-cola-at-a-glance</a:t>
            </a:r>
            <a:endParaRPr lang="en-NZ" dirty="0" smtClean="0"/>
          </a:p>
          <a:p>
            <a:pPr lvl="2"/>
            <a:r>
              <a:rPr lang="en-NZ" dirty="0" smtClean="0"/>
              <a:t>Our Company -&gt; Mission vision and values</a:t>
            </a:r>
          </a:p>
          <a:p>
            <a:pPr lvl="1"/>
            <a:r>
              <a:rPr lang="en-NZ" dirty="0" smtClean="0"/>
              <a:t>VUW Library</a:t>
            </a:r>
          </a:p>
          <a:p>
            <a:pPr lvl="2"/>
            <a:r>
              <a:rPr lang="en-NZ" dirty="0" smtClean="0"/>
              <a:t>Business Source Complete: search “coca cola”</a:t>
            </a:r>
          </a:p>
          <a:p>
            <a:pPr lvl="2"/>
            <a:r>
              <a:rPr lang="en-NZ" dirty="0">
                <a:hlinkClick r:id="rId5"/>
              </a:rPr>
              <a:t>http://helicon.vuw.ac.nz/login?url=http://search.ebscohost.com/login.aspx?direct=true&amp;db=bth&amp;bquery=%</a:t>
            </a:r>
            <a:r>
              <a:rPr lang="en-NZ" dirty="0" smtClean="0">
                <a:hlinkClick r:id="rId5"/>
              </a:rPr>
              <a:t>26quot%3bcoca+cola%26quot%3b&amp;type=1&amp;site=ehost-live</a:t>
            </a:r>
            <a:endParaRPr lang="en-NZ" dirty="0" smtClean="0"/>
          </a:p>
          <a:p>
            <a:pPr lvl="3"/>
            <a:r>
              <a:rPr lang="en-NZ" dirty="0" smtClean="0"/>
              <a:t>SWOT Analysis 2015 (can mine/extend)</a:t>
            </a:r>
          </a:p>
          <a:p>
            <a:pPr lvl="3"/>
            <a:r>
              <a:rPr lang="en-NZ" dirty="0" smtClean="0"/>
              <a:t>Articles about water management</a:t>
            </a:r>
          </a:p>
          <a:p>
            <a:pPr lvl="3"/>
            <a:r>
              <a:rPr lang="en-NZ" dirty="0" smtClean="0"/>
              <a:t>PR Nightmare article </a:t>
            </a:r>
          </a:p>
          <a:p>
            <a:pPr lvl="3"/>
            <a:endParaRPr lang="en-NZ" dirty="0" smtClean="0"/>
          </a:p>
          <a:p>
            <a:pPr lvl="3"/>
            <a:endParaRPr lang="en-NZ" dirty="0" smtClean="0"/>
          </a:p>
          <a:p>
            <a:pPr lvl="2"/>
            <a:endParaRPr lang="en-NZ" dirty="0"/>
          </a:p>
        </p:txBody>
      </p:sp>
    </p:spTree>
    <p:extLst>
      <p:ext uri="{BB962C8B-B14F-4D97-AF65-F5344CB8AC3E}">
        <p14:creationId xmlns:p14="http://schemas.microsoft.com/office/powerpoint/2010/main" val="4098530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Organization’s </a:t>
            </a:r>
            <a:r>
              <a:rPr lang="en-US" dirty="0"/>
              <a:t>objective and a brief description</a:t>
            </a:r>
            <a:endParaRPr lang="en-NZ" dirty="0"/>
          </a:p>
        </p:txBody>
      </p:sp>
      <p:sp>
        <p:nvSpPr>
          <p:cNvPr id="3" name="Content Placeholder 2"/>
          <p:cNvSpPr>
            <a:spLocks noGrp="1"/>
          </p:cNvSpPr>
          <p:nvPr>
            <p:ph idx="1"/>
          </p:nvPr>
        </p:nvSpPr>
        <p:spPr/>
        <p:txBody>
          <a:bodyPr/>
          <a:lstStyle/>
          <a:p>
            <a:r>
              <a:rPr lang="en-NZ" dirty="0" smtClean="0"/>
              <a:t>More possible sources</a:t>
            </a:r>
          </a:p>
          <a:p>
            <a:pPr lvl="1"/>
            <a:r>
              <a:rPr lang="en-NZ" dirty="0" smtClean="0"/>
              <a:t>VUW Library</a:t>
            </a:r>
          </a:p>
          <a:p>
            <a:pPr lvl="3"/>
            <a:r>
              <a:rPr lang="en-NZ" dirty="0" smtClean="0"/>
              <a:t>ABI/Inform Global</a:t>
            </a:r>
            <a:r>
              <a:rPr lang="en-NZ" dirty="0"/>
              <a:t>: search “coca cola”</a:t>
            </a:r>
          </a:p>
          <a:p>
            <a:pPr lvl="4"/>
            <a:r>
              <a:rPr lang="en-NZ" dirty="0" smtClean="0"/>
              <a:t>Lots of articles from business sources and trade magazines</a:t>
            </a:r>
          </a:p>
          <a:p>
            <a:pPr lvl="3"/>
            <a:r>
              <a:rPr lang="en-NZ" dirty="0" smtClean="0"/>
              <a:t>Hoover’s Company Profiles (via ProQuest)</a:t>
            </a:r>
          </a:p>
          <a:p>
            <a:pPr lvl="4"/>
            <a:r>
              <a:rPr lang="en-NZ" dirty="0" smtClean="0"/>
              <a:t>See not below</a:t>
            </a:r>
          </a:p>
          <a:p>
            <a:pPr lvl="4"/>
            <a:r>
              <a:rPr lang="en-NZ" dirty="0" smtClean="0"/>
              <a:t>Overview, History, products</a:t>
            </a:r>
          </a:p>
          <a:p>
            <a:pPr lvl="5"/>
            <a:r>
              <a:rPr lang="en-NZ" dirty="0"/>
              <a:t>#1 </a:t>
            </a:r>
            <a:r>
              <a:rPr lang="en-NZ" dirty="0" err="1"/>
              <a:t>nonalcoholic</a:t>
            </a:r>
            <a:r>
              <a:rPr lang="en-NZ" dirty="0"/>
              <a:t> beverage company</a:t>
            </a:r>
            <a:endParaRPr lang="en-NZ" dirty="0" smtClean="0"/>
          </a:p>
          <a:p>
            <a:pPr lvl="3"/>
            <a:endParaRPr lang="en-NZ" dirty="0" smtClean="0"/>
          </a:p>
          <a:p>
            <a:pPr lvl="3"/>
            <a:endParaRPr lang="en-NZ" dirty="0" smtClean="0"/>
          </a:p>
          <a:p>
            <a:pPr lvl="2"/>
            <a:endParaRPr lang="en-NZ" dirty="0"/>
          </a:p>
        </p:txBody>
      </p:sp>
    </p:spTree>
    <p:extLst>
      <p:ext uri="{BB962C8B-B14F-4D97-AF65-F5344CB8AC3E}">
        <p14:creationId xmlns:p14="http://schemas.microsoft.com/office/powerpoint/2010/main" val="129772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Organization’s </a:t>
            </a:r>
            <a:r>
              <a:rPr lang="en-US" dirty="0"/>
              <a:t>objective and a brief description</a:t>
            </a:r>
            <a:endParaRPr lang="en-NZ" dirty="0"/>
          </a:p>
        </p:txBody>
      </p:sp>
      <p:sp>
        <p:nvSpPr>
          <p:cNvPr id="3" name="Content Placeholder 2"/>
          <p:cNvSpPr>
            <a:spLocks noGrp="1"/>
          </p:cNvSpPr>
          <p:nvPr>
            <p:ph sz="half" idx="1"/>
          </p:nvPr>
        </p:nvSpPr>
        <p:spPr/>
        <p:txBody>
          <a:bodyPr/>
          <a:lstStyle/>
          <a:p>
            <a:r>
              <a:rPr lang="en-NZ" dirty="0" smtClean="0"/>
              <a:t>More possible sources</a:t>
            </a:r>
          </a:p>
          <a:p>
            <a:pPr lvl="1"/>
            <a:r>
              <a:rPr lang="en-NZ" dirty="0" smtClean="0"/>
              <a:t>VUW Library</a:t>
            </a:r>
          </a:p>
          <a:p>
            <a:pPr lvl="2"/>
            <a:r>
              <a:rPr lang="en-NZ" dirty="0" smtClean="0"/>
              <a:t>LexisNexis Academic</a:t>
            </a:r>
          </a:p>
          <a:p>
            <a:pPr lvl="3"/>
            <a:r>
              <a:rPr lang="en-NZ" dirty="0" smtClean="0"/>
              <a:t>Over 6,000 newspapers worldwide</a:t>
            </a:r>
          </a:p>
          <a:p>
            <a:pPr lvl="3"/>
            <a:r>
              <a:rPr lang="en-NZ" dirty="0" smtClean="0"/>
              <a:t>Company information</a:t>
            </a:r>
          </a:p>
          <a:p>
            <a:pPr lvl="3"/>
            <a:r>
              <a:rPr lang="en-NZ" dirty="0" smtClean="0"/>
              <a:t>Patent and legal info (depending on your SWOT, could be useful).</a:t>
            </a:r>
          </a:p>
          <a:p>
            <a:pPr lvl="3"/>
            <a:endParaRPr lang="en-NZ" dirty="0" smtClean="0"/>
          </a:p>
          <a:p>
            <a:pPr lvl="1"/>
            <a:r>
              <a:rPr lang="en-NZ" dirty="0" smtClean="0"/>
              <a:t>EDGAR: SEC Filings</a:t>
            </a:r>
          </a:p>
          <a:p>
            <a:pPr lvl="2"/>
            <a:r>
              <a:rPr lang="en-NZ" dirty="0" smtClean="0"/>
              <a:t>Financial reporting to the US Gov.</a:t>
            </a:r>
          </a:p>
          <a:p>
            <a:pPr lvl="2"/>
            <a:r>
              <a:rPr lang="en-NZ" dirty="0"/>
              <a:t>https://www.sec.gov/investor/pubs/edgarguide.htm</a:t>
            </a:r>
            <a:endParaRPr lang="en-NZ" dirty="0" smtClean="0"/>
          </a:p>
          <a:p>
            <a:pPr lvl="2"/>
            <a:endParaRPr lang="en-NZ" dirty="0"/>
          </a:p>
        </p:txBody>
      </p:sp>
      <p:pic>
        <p:nvPicPr>
          <p:cNvPr id="5" name="Content Placeholder 4"/>
          <p:cNvPicPr>
            <a:picLocks noGrp="1" noChangeAspect="1"/>
          </p:cNvPicPr>
          <p:nvPr>
            <p:ph sz="half" idx="2"/>
          </p:nvPr>
        </p:nvPicPr>
        <p:blipFill>
          <a:blip r:embed="rId3"/>
          <a:stretch>
            <a:fillRect/>
          </a:stretch>
        </p:blipFill>
        <p:spPr>
          <a:xfrm>
            <a:off x="6466460" y="1825625"/>
            <a:ext cx="4593079" cy="4351338"/>
          </a:xfrm>
          <a:prstGeom prst="rect">
            <a:avLst/>
          </a:prstGeom>
        </p:spPr>
      </p:pic>
    </p:spTree>
    <p:extLst>
      <p:ext uri="{BB962C8B-B14F-4D97-AF65-F5344CB8AC3E}">
        <p14:creationId xmlns:p14="http://schemas.microsoft.com/office/powerpoint/2010/main" val="2482831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Did you notice…</a:t>
            </a:r>
            <a:endParaRPr lang="en-NZ" dirty="0"/>
          </a:p>
        </p:txBody>
      </p:sp>
      <p:sp>
        <p:nvSpPr>
          <p:cNvPr id="3" name="Content Placeholder 2"/>
          <p:cNvSpPr>
            <a:spLocks noGrp="1"/>
          </p:cNvSpPr>
          <p:nvPr>
            <p:ph idx="1"/>
          </p:nvPr>
        </p:nvSpPr>
        <p:spPr/>
        <p:txBody>
          <a:bodyPr/>
          <a:lstStyle/>
          <a:p>
            <a:r>
              <a:rPr lang="en-NZ" dirty="0" smtClean="0"/>
              <a:t>I choose to go directly to </a:t>
            </a:r>
            <a:r>
              <a:rPr lang="en-NZ" dirty="0" smtClean="0"/>
              <a:t>the </a:t>
            </a:r>
            <a:r>
              <a:rPr lang="en-NZ" dirty="0" err="1" smtClean="0"/>
              <a:t>edatabases</a:t>
            </a:r>
            <a:r>
              <a:rPr lang="en-NZ" dirty="0" smtClean="0"/>
              <a:t> using either the guide or the A-Z </a:t>
            </a:r>
            <a:r>
              <a:rPr lang="en-NZ" dirty="0"/>
              <a:t>databases list (</a:t>
            </a:r>
            <a:r>
              <a:rPr lang="en-NZ" dirty="0">
                <a:hlinkClick r:id="rId2"/>
              </a:rPr>
              <a:t>http://</a:t>
            </a:r>
            <a:r>
              <a:rPr lang="en-NZ" dirty="0" smtClean="0">
                <a:hlinkClick r:id="rId2"/>
              </a:rPr>
              <a:t>library.victoria.ac.nz/library-v2/research-and-study-help/databases-az</a:t>
            </a:r>
            <a:r>
              <a:rPr lang="en-NZ" dirty="0" smtClean="0"/>
              <a:t>)</a:t>
            </a:r>
          </a:p>
          <a:p>
            <a:r>
              <a:rPr lang="en-NZ" dirty="0" err="1" smtClean="0"/>
              <a:t>Te</a:t>
            </a:r>
            <a:r>
              <a:rPr lang="en-NZ" dirty="0" smtClean="0"/>
              <a:t> </a:t>
            </a:r>
            <a:r>
              <a:rPr lang="en-NZ" dirty="0" err="1" smtClean="0"/>
              <a:t>Waharoa</a:t>
            </a:r>
            <a:r>
              <a:rPr lang="en-NZ" dirty="0" smtClean="0"/>
              <a:t> searches wide (multiple databases at once) – and does not focus on what I specifically need.</a:t>
            </a:r>
            <a:endParaRPr lang="en-NZ" dirty="0"/>
          </a:p>
        </p:txBody>
      </p:sp>
    </p:spTree>
    <p:extLst>
      <p:ext uri="{BB962C8B-B14F-4D97-AF65-F5344CB8AC3E}">
        <p14:creationId xmlns:p14="http://schemas.microsoft.com/office/powerpoint/2010/main" val="2058182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Objectives and Description: Putting together a story and looking for trends</a:t>
            </a:r>
            <a:endParaRPr lang="en-NZ" dirty="0"/>
          </a:p>
        </p:txBody>
      </p:sp>
      <p:pic>
        <p:nvPicPr>
          <p:cNvPr id="4" name="Content Placeholder 3"/>
          <p:cNvPicPr>
            <a:picLocks noGrp="1" noChangeAspect="1"/>
          </p:cNvPicPr>
          <p:nvPr>
            <p:ph idx="1"/>
          </p:nvPr>
        </p:nvPicPr>
        <p:blipFill>
          <a:blip r:embed="rId3"/>
          <a:stretch>
            <a:fillRect/>
          </a:stretch>
        </p:blipFill>
        <p:spPr>
          <a:xfrm>
            <a:off x="1871202" y="1825625"/>
            <a:ext cx="8449596" cy="4351338"/>
          </a:xfrm>
          <a:prstGeom prst="rect">
            <a:avLst/>
          </a:prstGeom>
        </p:spPr>
      </p:pic>
    </p:spTree>
    <p:extLst>
      <p:ext uri="{BB962C8B-B14F-4D97-AF65-F5344CB8AC3E}">
        <p14:creationId xmlns:p14="http://schemas.microsoft.com/office/powerpoint/2010/main" val="3373355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Competitors</a:t>
            </a:r>
            <a:endParaRPr lang="en-NZ" dirty="0"/>
          </a:p>
        </p:txBody>
      </p:sp>
      <p:sp>
        <p:nvSpPr>
          <p:cNvPr id="3" name="Content Placeholder 2"/>
          <p:cNvSpPr>
            <a:spLocks noGrp="1"/>
          </p:cNvSpPr>
          <p:nvPr>
            <p:ph sz="half" idx="1"/>
          </p:nvPr>
        </p:nvSpPr>
        <p:spPr/>
        <p:txBody>
          <a:bodyPr>
            <a:normAutofit fontScale="25000" lnSpcReduction="20000"/>
          </a:bodyPr>
          <a:lstStyle/>
          <a:p>
            <a:pPr fontAlgn="base"/>
            <a:r>
              <a:rPr lang="en-NZ" u="sng" dirty="0">
                <a:hlinkClick r:id="rId3" tooltip="AMERICAN BEVERAGE CORPORATION"/>
              </a:rPr>
              <a:t>AMERICAN BEVERAGE CORPORATION</a:t>
            </a:r>
            <a:endParaRPr lang="en-NZ" dirty="0"/>
          </a:p>
          <a:p>
            <a:pPr fontAlgn="base"/>
            <a:r>
              <a:rPr lang="en-NZ" u="sng" dirty="0" err="1">
                <a:hlinkClick r:id="rId4" tooltip="Aquaterra Corporation"/>
              </a:rPr>
              <a:t>Aquaterra</a:t>
            </a:r>
            <a:r>
              <a:rPr lang="en-NZ" u="sng" dirty="0">
                <a:hlinkClick r:id="rId4" tooltip="Aquaterra Corporation"/>
              </a:rPr>
              <a:t> Corporation</a:t>
            </a:r>
            <a:endParaRPr lang="en-NZ" dirty="0"/>
          </a:p>
          <a:p>
            <a:pPr fontAlgn="base"/>
            <a:r>
              <a:rPr lang="en-NZ" u="sng" dirty="0">
                <a:hlinkClick r:id="rId5" tooltip="Big Heart Pet Brands"/>
              </a:rPr>
              <a:t>Big Heart Pet Brands</a:t>
            </a:r>
            <a:endParaRPr lang="en-NZ" dirty="0"/>
          </a:p>
          <a:p>
            <a:pPr fontAlgn="base"/>
            <a:r>
              <a:rPr lang="en-NZ" u="sng" dirty="0">
                <a:hlinkClick r:id="rId6" tooltip="BRITVIC PLC"/>
              </a:rPr>
              <a:t>BRITVIC PLC</a:t>
            </a:r>
            <a:endParaRPr lang="en-NZ" dirty="0"/>
          </a:p>
          <a:p>
            <a:pPr fontAlgn="base"/>
            <a:r>
              <a:rPr lang="en-NZ" u="sng" dirty="0">
                <a:hlinkClick r:id="rId7" tooltip="CHIQUITA BRANDS INTERNATIONAL, INC."/>
              </a:rPr>
              <a:t>CHIQUITA BRANDS INTERNATIONAL, INC.</a:t>
            </a:r>
            <a:endParaRPr lang="en-NZ" dirty="0"/>
          </a:p>
          <a:p>
            <a:pPr fontAlgn="base"/>
            <a:r>
              <a:rPr lang="en-NZ" u="sng" dirty="0">
                <a:hlinkClick r:id="rId8" tooltip="CITRUS WORLD, INC."/>
              </a:rPr>
              <a:t>CITRUS WORLD, INC.</a:t>
            </a:r>
            <a:endParaRPr lang="en-NZ" dirty="0"/>
          </a:p>
          <a:p>
            <a:pPr fontAlgn="base"/>
            <a:r>
              <a:rPr lang="en-NZ" u="sng" dirty="0">
                <a:hlinkClick r:id="rId9" tooltip="Clearly Canadian Beverage Corporation"/>
              </a:rPr>
              <a:t>Clearly Canadian Beverage Corporation</a:t>
            </a:r>
            <a:endParaRPr lang="en-NZ" dirty="0"/>
          </a:p>
          <a:p>
            <a:pPr fontAlgn="base"/>
            <a:r>
              <a:rPr lang="en-NZ" u="sng" dirty="0">
                <a:hlinkClick r:id="rId10" tooltip="LASSONDE PAPPAS AND COMPANY, INC."/>
              </a:rPr>
              <a:t>LASSONDE PAPPAS AND COMPANY, INC.</a:t>
            </a:r>
            <a:endParaRPr lang="en-NZ" dirty="0"/>
          </a:p>
          <a:p>
            <a:pPr fontAlgn="base"/>
            <a:r>
              <a:rPr lang="en-NZ" u="sng" dirty="0" err="1">
                <a:hlinkClick r:id="rId11" tooltip="Cott Corporation"/>
              </a:rPr>
              <a:t>Cott</a:t>
            </a:r>
            <a:r>
              <a:rPr lang="en-NZ" u="sng" dirty="0">
                <a:hlinkClick r:id="rId11" tooltip="Cott Corporation"/>
              </a:rPr>
              <a:t> Corporation</a:t>
            </a:r>
            <a:endParaRPr lang="en-NZ" dirty="0"/>
          </a:p>
          <a:p>
            <a:pPr fontAlgn="base"/>
            <a:r>
              <a:rPr lang="en-NZ" u="sng" dirty="0">
                <a:hlinkClick r:id="rId12" tooltip="Northland Cranberries, Inc."/>
              </a:rPr>
              <a:t>Northland Cranberries, Inc.</a:t>
            </a:r>
            <a:endParaRPr lang="en-NZ" dirty="0"/>
          </a:p>
          <a:p>
            <a:pPr fontAlgn="base"/>
            <a:r>
              <a:rPr lang="en-NZ" u="sng" dirty="0">
                <a:hlinkClick r:id="rId13" tooltip="DANONE"/>
              </a:rPr>
              <a:t>DANONE</a:t>
            </a:r>
            <a:endParaRPr lang="en-NZ" dirty="0"/>
          </a:p>
          <a:p>
            <a:pPr fontAlgn="base"/>
            <a:r>
              <a:rPr lang="en-NZ" u="sng" dirty="0">
                <a:hlinkClick r:id="rId14" tooltip="DOLE FOOD COMPANY, INC."/>
              </a:rPr>
              <a:t>DOLE FOOD COMPANY, INC.</a:t>
            </a:r>
            <a:endParaRPr lang="en-NZ" dirty="0"/>
          </a:p>
          <a:p>
            <a:pPr fontAlgn="base"/>
            <a:r>
              <a:rPr lang="en-NZ" u="sng" dirty="0">
                <a:hlinkClick r:id="rId15" tooltip="Dr Pepper Snapple Group, Inc."/>
              </a:rPr>
              <a:t>Dr Pepper Snapple Group, Inc.</a:t>
            </a:r>
            <a:endParaRPr lang="en-NZ" dirty="0"/>
          </a:p>
          <a:p>
            <a:pPr fontAlgn="base"/>
            <a:r>
              <a:rPr lang="en-NZ" u="sng" dirty="0" err="1">
                <a:hlinkClick r:id="rId16" tooltip="Faygo Beverages, Inc."/>
              </a:rPr>
              <a:t>Faygo</a:t>
            </a:r>
            <a:r>
              <a:rPr lang="en-NZ" u="sng" dirty="0">
                <a:hlinkClick r:id="rId16" tooltip="Faygo Beverages, Inc."/>
              </a:rPr>
              <a:t> Beverages, Inc.</a:t>
            </a:r>
            <a:endParaRPr lang="en-NZ" dirty="0"/>
          </a:p>
          <a:p>
            <a:pPr fontAlgn="base"/>
            <a:r>
              <a:rPr lang="en-NZ" u="sng" dirty="0">
                <a:hlinkClick r:id="rId17" tooltip="Fiji Water Company, LLC"/>
              </a:rPr>
              <a:t>Fiji Water Company, LLC</a:t>
            </a:r>
            <a:endParaRPr lang="en-NZ" dirty="0"/>
          </a:p>
          <a:p>
            <a:pPr fontAlgn="base"/>
            <a:r>
              <a:rPr lang="en-NZ" u="sng" dirty="0">
                <a:hlinkClick r:id="rId18" tooltip="Fresh Del Monte Produce Inc."/>
              </a:rPr>
              <a:t>Fresh Del Monte Produce Inc.</a:t>
            </a:r>
            <a:endParaRPr lang="en-NZ" dirty="0"/>
          </a:p>
          <a:p>
            <a:pPr fontAlgn="base"/>
            <a:r>
              <a:rPr lang="en-NZ" u="sng" dirty="0">
                <a:hlinkClick r:id="rId19" tooltip="Great Western Juice Company"/>
              </a:rPr>
              <a:t>Great Western Juice Company</a:t>
            </a:r>
            <a:endParaRPr lang="en-NZ" dirty="0"/>
          </a:p>
          <a:p>
            <a:pPr fontAlgn="base"/>
            <a:r>
              <a:rPr lang="en-NZ" u="sng" dirty="0">
                <a:hlinkClick r:id="rId20" tooltip="Hawaiian Springs, LLC"/>
              </a:rPr>
              <a:t>Hawaiian Springs, LLC</a:t>
            </a:r>
            <a:endParaRPr lang="en-NZ" dirty="0"/>
          </a:p>
          <a:p>
            <a:pPr fontAlgn="base"/>
            <a:r>
              <a:rPr lang="en-NZ" u="sng" dirty="0">
                <a:hlinkClick r:id="rId21" tooltip="HORNELL BREWING CO., INC."/>
              </a:rPr>
              <a:t>HORNELL BREWING CO., INC.</a:t>
            </a:r>
            <a:endParaRPr lang="en-NZ" dirty="0"/>
          </a:p>
          <a:p>
            <a:pPr fontAlgn="base"/>
            <a:r>
              <a:rPr lang="en-NZ" u="sng" dirty="0" err="1">
                <a:hlinkClick r:id="rId22" tooltip="Izze Beverage Co."/>
              </a:rPr>
              <a:t>Izze</a:t>
            </a:r>
            <a:r>
              <a:rPr lang="en-NZ" u="sng" dirty="0">
                <a:hlinkClick r:id="rId22" tooltip="Izze Beverage Co."/>
              </a:rPr>
              <a:t> Beverage Co.</a:t>
            </a:r>
            <a:endParaRPr lang="en-NZ" dirty="0"/>
          </a:p>
          <a:p>
            <a:pPr fontAlgn="base"/>
            <a:r>
              <a:rPr lang="en-NZ" u="sng" dirty="0">
                <a:hlinkClick r:id="rId23" tooltip="Impulse Energy USA Corp."/>
              </a:rPr>
              <a:t>Impulse Energy USA Corp.</a:t>
            </a:r>
            <a:endParaRPr lang="en-NZ" dirty="0"/>
          </a:p>
          <a:p>
            <a:pPr fontAlgn="base"/>
            <a:r>
              <a:rPr lang="en-NZ" u="sng" dirty="0">
                <a:hlinkClick r:id="rId24" tooltip="JAMBA, INC."/>
              </a:rPr>
              <a:t>JAMBA, INC.</a:t>
            </a:r>
            <a:endParaRPr lang="en-NZ" dirty="0"/>
          </a:p>
          <a:p>
            <a:endParaRPr lang="en-NZ" dirty="0"/>
          </a:p>
        </p:txBody>
      </p:sp>
      <p:sp>
        <p:nvSpPr>
          <p:cNvPr id="4" name="Content Placeholder 3"/>
          <p:cNvSpPr>
            <a:spLocks noGrp="1"/>
          </p:cNvSpPr>
          <p:nvPr>
            <p:ph sz="half" idx="2"/>
          </p:nvPr>
        </p:nvSpPr>
        <p:spPr/>
        <p:txBody>
          <a:bodyPr>
            <a:normAutofit fontScale="25000" lnSpcReduction="20000"/>
          </a:bodyPr>
          <a:lstStyle/>
          <a:p>
            <a:pPr fontAlgn="base"/>
            <a:r>
              <a:rPr lang="en-NZ" u="sng" dirty="0">
                <a:hlinkClick r:id="rId25" tooltip="JONES SODA CO."/>
              </a:rPr>
              <a:t>JONES SODA CO.</a:t>
            </a:r>
            <a:endParaRPr lang="en-NZ" dirty="0"/>
          </a:p>
          <a:p>
            <a:pPr fontAlgn="base"/>
            <a:r>
              <a:rPr lang="en-NZ" u="sng" dirty="0">
                <a:hlinkClick r:id="rId26" tooltip="KIRIN HOLDINGS COMPANY, LIMITED"/>
              </a:rPr>
              <a:t>KIRIN HOLDINGS COMPANY, LIMITED</a:t>
            </a:r>
            <a:endParaRPr lang="en-NZ" dirty="0"/>
          </a:p>
          <a:p>
            <a:pPr fontAlgn="base"/>
            <a:r>
              <a:rPr lang="en-NZ" u="sng" dirty="0">
                <a:hlinkClick r:id="rId27" tooltip="Industries Lassonde Inc"/>
              </a:rPr>
              <a:t>Industries </a:t>
            </a:r>
            <a:r>
              <a:rPr lang="en-NZ" u="sng" dirty="0" err="1">
                <a:hlinkClick r:id="rId27" tooltip="Industries Lassonde Inc"/>
              </a:rPr>
              <a:t>Lassonde</a:t>
            </a:r>
            <a:r>
              <a:rPr lang="en-NZ" u="sng" dirty="0">
                <a:hlinkClick r:id="rId27" tooltip="Industries Lassonde Inc"/>
              </a:rPr>
              <a:t> </a:t>
            </a:r>
            <a:r>
              <a:rPr lang="en-NZ" u="sng" dirty="0" err="1">
                <a:hlinkClick r:id="rId27" tooltip="Industries Lassonde Inc"/>
              </a:rPr>
              <a:t>Inc</a:t>
            </a:r>
            <a:endParaRPr lang="en-NZ" dirty="0"/>
          </a:p>
          <a:p>
            <a:pPr fontAlgn="base"/>
            <a:r>
              <a:rPr lang="en-NZ" u="sng" dirty="0">
                <a:hlinkClick r:id="rId28" tooltip="Leading Brands, Inc"/>
              </a:rPr>
              <a:t>Leading Brands, </a:t>
            </a:r>
            <a:r>
              <a:rPr lang="en-NZ" u="sng" dirty="0" err="1">
                <a:hlinkClick r:id="rId28" tooltip="Leading Brands, Inc"/>
              </a:rPr>
              <a:t>Inc</a:t>
            </a:r>
            <a:endParaRPr lang="en-NZ" dirty="0"/>
          </a:p>
          <a:p>
            <a:pPr fontAlgn="base"/>
            <a:r>
              <a:rPr lang="en-NZ" u="sng" dirty="0">
                <a:hlinkClick r:id="rId29" tooltip="THE MONARCH BEVERAGE COMPANY INC"/>
              </a:rPr>
              <a:t>THE MONARCH BEVERAGE COMPANY INC</a:t>
            </a:r>
            <a:endParaRPr lang="en-NZ" dirty="0"/>
          </a:p>
          <a:p>
            <a:pPr fontAlgn="base"/>
            <a:r>
              <a:rPr lang="en-NZ" u="sng" dirty="0">
                <a:hlinkClick r:id="rId30" tooltip="MONDELEZ INTERNATIONAL, INC."/>
              </a:rPr>
              <a:t>MONDELEZ INTERNATIONAL, INC.</a:t>
            </a:r>
            <a:endParaRPr lang="en-NZ" dirty="0"/>
          </a:p>
          <a:p>
            <a:pPr fontAlgn="base"/>
            <a:r>
              <a:rPr lang="en-NZ" u="sng" dirty="0">
                <a:hlinkClick r:id="rId31" tooltip="Mountain Valley Spring Company, LLC"/>
              </a:rPr>
              <a:t>Mountain Valley Spring Company, LLC</a:t>
            </a:r>
            <a:endParaRPr lang="en-NZ" dirty="0"/>
          </a:p>
          <a:p>
            <a:pPr fontAlgn="base"/>
            <a:r>
              <a:rPr lang="en-NZ" u="sng" dirty="0">
                <a:hlinkClick r:id="rId32" tooltip="Naked Juice Co. of Glendora, Inc."/>
              </a:rPr>
              <a:t>Naked Juice Co. of Glendora, Inc.</a:t>
            </a:r>
            <a:endParaRPr lang="en-NZ" dirty="0"/>
          </a:p>
          <a:p>
            <a:pPr fontAlgn="base"/>
            <a:r>
              <a:rPr lang="en-NZ" u="sng" dirty="0">
                <a:hlinkClick r:id="rId33" tooltip="NATIONAL BEVERAGE CORP."/>
              </a:rPr>
              <a:t>NATIONAL BEVERAGE CORP.</a:t>
            </a:r>
            <a:endParaRPr lang="en-NZ" dirty="0"/>
          </a:p>
          <a:p>
            <a:pPr fontAlgn="base"/>
            <a:r>
              <a:rPr lang="en-NZ" u="sng" dirty="0" err="1">
                <a:hlinkClick r:id="rId34" tooltip="Naumes, Inc."/>
              </a:rPr>
              <a:t>Naumes</a:t>
            </a:r>
            <a:r>
              <a:rPr lang="en-NZ" u="sng" dirty="0">
                <a:hlinkClick r:id="rId34" tooltip="Naumes, Inc."/>
              </a:rPr>
              <a:t>, Inc.</a:t>
            </a:r>
            <a:endParaRPr lang="en-NZ" dirty="0"/>
          </a:p>
          <a:p>
            <a:pPr fontAlgn="base"/>
            <a:r>
              <a:rPr lang="en-NZ" u="sng" dirty="0">
                <a:hlinkClick r:id="rId35" tooltip="Nestlé S.A."/>
              </a:rPr>
              <a:t>Nestlé S.A.</a:t>
            </a:r>
            <a:endParaRPr lang="en-NZ" dirty="0"/>
          </a:p>
          <a:p>
            <a:pPr fontAlgn="base"/>
            <a:r>
              <a:rPr lang="en-NZ" u="sng" dirty="0">
                <a:hlinkClick r:id="rId36" tooltip="Ocean Spray Cranberries, Inc."/>
              </a:rPr>
              <a:t>Ocean Spray Cranberries, Inc.</a:t>
            </a:r>
            <a:endParaRPr lang="en-NZ" dirty="0"/>
          </a:p>
          <a:p>
            <a:pPr fontAlgn="base"/>
            <a:r>
              <a:rPr lang="en-NZ" u="sng" dirty="0">
                <a:hlinkClick r:id="rId37" tooltip="Old Orchard Brands LLC"/>
              </a:rPr>
              <a:t>Old Orchard Brands LLC</a:t>
            </a:r>
            <a:endParaRPr lang="en-NZ" dirty="0"/>
          </a:p>
          <a:p>
            <a:pPr fontAlgn="base"/>
            <a:r>
              <a:rPr lang="en-NZ" u="sng" dirty="0">
                <a:hlinkClick r:id="rId38" tooltip="PEPSICO, INC."/>
              </a:rPr>
              <a:t>PEPSICO, INC.</a:t>
            </a:r>
            <a:endParaRPr lang="en-NZ" dirty="0"/>
          </a:p>
          <a:p>
            <a:pPr fontAlgn="base"/>
            <a:r>
              <a:rPr lang="en-NZ" u="sng" dirty="0">
                <a:hlinkClick r:id="rId39" tooltip="PERNOD RICARD"/>
              </a:rPr>
              <a:t>PERNOD RICARD</a:t>
            </a:r>
            <a:endParaRPr lang="en-NZ" dirty="0"/>
          </a:p>
          <a:p>
            <a:pPr fontAlgn="base"/>
            <a:r>
              <a:rPr lang="en-NZ" u="sng" dirty="0">
                <a:hlinkClick r:id="rId40" tooltip="Red Bull GmbH"/>
              </a:rPr>
              <a:t>Red Bull GmbH</a:t>
            </a:r>
            <a:endParaRPr lang="en-NZ" dirty="0"/>
          </a:p>
          <a:p>
            <a:pPr fontAlgn="base"/>
            <a:r>
              <a:rPr lang="en-NZ" u="sng" dirty="0">
                <a:hlinkClick r:id="rId41" tooltip="Silver Springs Citrus, Inc."/>
              </a:rPr>
              <a:t>Silver Springs Citrus, Inc.</a:t>
            </a:r>
            <a:endParaRPr lang="en-NZ" dirty="0"/>
          </a:p>
          <a:p>
            <a:pPr fontAlgn="base"/>
            <a:r>
              <a:rPr lang="en-NZ" u="sng" dirty="0">
                <a:hlinkClick r:id="rId42" tooltip="South Beach Beverage Company, Inc."/>
              </a:rPr>
              <a:t>South Beach Beverage Company, Inc.</a:t>
            </a:r>
            <a:endParaRPr lang="en-NZ" dirty="0"/>
          </a:p>
          <a:p>
            <a:pPr fontAlgn="base"/>
            <a:r>
              <a:rPr lang="en-NZ" u="sng" dirty="0">
                <a:hlinkClick r:id="rId43" tooltip="Southern Gardens Citrus Holding Corporation"/>
              </a:rPr>
              <a:t>Southern Gardens Citrus Holding Corporation</a:t>
            </a:r>
            <a:endParaRPr lang="en-NZ" dirty="0"/>
          </a:p>
          <a:p>
            <a:pPr fontAlgn="base"/>
            <a:r>
              <a:rPr lang="en-NZ" u="sng" dirty="0">
                <a:hlinkClick r:id="rId44" tooltip="Sun-Rype Products Ltd"/>
              </a:rPr>
              <a:t>Sun-</a:t>
            </a:r>
            <a:r>
              <a:rPr lang="en-NZ" u="sng" dirty="0" err="1">
                <a:hlinkClick r:id="rId44" tooltip="Sun-Rype Products Ltd"/>
              </a:rPr>
              <a:t>Rype</a:t>
            </a:r>
            <a:r>
              <a:rPr lang="en-NZ" u="sng" dirty="0">
                <a:hlinkClick r:id="rId44" tooltip="Sun-Rype Products Ltd"/>
              </a:rPr>
              <a:t> Products Ltd</a:t>
            </a:r>
            <a:endParaRPr lang="en-NZ" dirty="0"/>
          </a:p>
          <a:p>
            <a:pPr fontAlgn="base"/>
            <a:r>
              <a:rPr lang="en-NZ" u="sng" dirty="0">
                <a:hlinkClick r:id="rId45" tooltip="Sunny Delight Beverage Co"/>
              </a:rPr>
              <a:t>Sunny Delight Beverage Co</a:t>
            </a:r>
            <a:endParaRPr lang="en-NZ" dirty="0"/>
          </a:p>
          <a:p>
            <a:pPr fontAlgn="base"/>
            <a:r>
              <a:rPr lang="en-NZ" u="sng" dirty="0">
                <a:hlinkClick r:id="rId46" tooltip="SUNTORY HOLDINGS LIMITED"/>
              </a:rPr>
              <a:t>SUNTORY HOLDINGS LIMITED</a:t>
            </a:r>
            <a:endParaRPr lang="en-NZ" dirty="0"/>
          </a:p>
          <a:p>
            <a:pPr fontAlgn="base"/>
            <a:r>
              <a:rPr lang="en-NZ" u="sng" dirty="0">
                <a:hlinkClick r:id="rId47" tooltip="Tree Top, Inc."/>
              </a:rPr>
              <a:t>Tree Top, Inc.</a:t>
            </a:r>
            <a:endParaRPr lang="en-NZ" dirty="0"/>
          </a:p>
          <a:p>
            <a:pPr fontAlgn="base"/>
            <a:r>
              <a:rPr lang="en-NZ" u="sng" dirty="0">
                <a:hlinkClick r:id="rId48" tooltip="True Drinks Holdings, Inc."/>
              </a:rPr>
              <a:t>True Drinks Holdings, Inc.</a:t>
            </a:r>
            <a:endParaRPr lang="en-NZ" dirty="0"/>
          </a:p>
          <a:p>
            <a:pPr fontAlgn="base"/>
            <a:r>
              <a:rPr lang="en-NZ" u="sng" dirty="0">
                <a:hlinkClick r:id="rId49" tooltip="Unilever"/>
              </a:rPr>
              <a:t>Unilever</a:t>
            </a:r>
            <a:endParaRPr lang="en-NZ" dirty="0"/>
          </a:p>
          <a:p>
            <a:pPr fontAlgn="base"/>
            <a:r>
              <a:rPr lang="en-NZ" u="sng" dirty="0">
                <a:hlinkClick r:id="rId50" tooltip="WELCH FOODS INC., A COOPERATIVE"/>
              </a:rPr>
              <a:t>WELCH FOODS INC., A COOPERATIVE</a:t>
            </a:r>
            <a:endParaRPr lang="en-NZ" dirty="0"/>
          </a:p>
          <a:p>
            <a:pPr fontAlgn="base"/>
            <a:r>
              <a:rPr lang="en-NZ" u="sng" dirty="0">
                <a:hlinkClick r:id="rId51" tooltip="THE JOLT COMPANY INC"/>
              </a:rPr>
              <a:t>THE JOLT COMPANY INC</a:t>
            </a:r>
            <a:endParaRPr lang="en-NZ" dirty="0"/>
          </a:p>
          <a:p>
            <a:endParaRPr lang="en-NZ" dirty="0"/>
          </a:p>
        </p:txBody>
      </p:sp>
    </p:spTree>
    <p:extLst>
      <p:ext uri="{BB962C8B-B14F-4D97-AF65-F5344CB8AC3E}">
        <p14:creationId xmlns:p14="http://schemas.microsoft.com/office/powerpoint/2010/main" val="270324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SWOT</a:t>
            </a:r>
            <a:endParaRPr lang="en-NZ" dirty="0"/>
          </a:p>
        </p:txBody>
      </p:sp>
      <p:sp>
        <p:nvSpPr>
          <p:cNvPr id="3" name="Content Placeholder 2"/>
          <p:cNvSpPr>
            <a:spLocks noGrp="1"/>
          </p:cNvSpPr>
          <p:nvPr>
            <p:ph idx="1"/>
          </p:nvPr>
        </p:nvSpPr>
        <p:spPr/>
        <p:txBody>
          <a:bodyPr/>
          <a:lstStyle/>
          <a:p>
            <a:endParaRPr lang="en-NZ" dirty="0"/>
          </a:p>
        </p:txBody>
      </p:sp>
      <p:sp>
        <p:nvSpPr>
          <p:cNvPr id="6" name="Text Placeholder 5"/>
          <p:cNvSpPr>
            <a:spLocks noGrp="1"/>
          </p:cNvSpPr>
          <p:nvPr>
            <p:ph type="body" sz="half" idx="2"/>
          </p:nvPr>
        </p:nvSpPr>
        <p:spPr>
          <a:xfrm>
            <a:off x="839789" y="2057400"/>
            <a:ext cx="2465294" cy="3811588"/>
          </a:xfrm>
        </p:spPr>
        <p:txBody>
          <a:bodyPr/>
          <a:lstStyle/>
          <a:p>
            <a:r>
              <a:rPr lang="en-NZ" dirty="0"/>
              <a:t>Brainstorm</a:t>
            </a:r>
          </a:p>
          <a:p>
            <a:r>
              <a:rPr lang="en-NZ" dirty="0"/>
              <a:t>Read </a:t>
            </a:r>
            <a:r>
              <a:rPr lang="en-NZ" dirty="0" smtClean="0"/>
              <a:t>overviews in Hoover’s or other company profiles</a:t>
            </a:r>
            <a:endParaRPr lang="en-NZ" dirty="0"/>
          </a:p>
          <a:p>
            <a:r>
              <a:rPr lang="en-NZ" dirty="0"/>
              <a:t>Review other swots</a:t>
            </a:r>
          </a:p>
          <a:p>
            <a:r>
              <a:rPr lang="en-NZ" dirty="0"/>
              <a:t>Scan docs to see where future focus is located</a:t>
            </a:r>
          </a:p>
          <a:p>
            <a:endParaRPr lang="en-NZ" dirty="0"/>
          </a:p>
        </p:txBody>
      </p:sp>
      <p:pic>
        <p:nvPicPr>
          <p:cNvPr id="5" name="Content Placeholder 4"/>
          <p:cNvPicPr>
            <a:picLocks noGrp="1" noChangeAspect="1"/>
          </p:cNvPicPr>
          <p:nvPr>
            <p:ph sz="half" idx="4294967295"/>
          </p:nvPr>
        </p:nvPicPr>
        <p:blipFill>
          <a:blip r:embed="rId3"/>
          <a:stretch>
            <a:fillRect/>
          </a:stretch>
        </p:blipFill>
        <p:spPr>
          <a:xfrm>
            <a:off x="3711388" y="987425"/>
            <a:ext cx="8050306" cy="4343400"/>
          </a:xfrm>
          <a:prstGeom prst="rect">
            <a:avLst/>
          </a:prstGeom>
        </p:spPr>
      </p:pic>
    </p:spTree>
    <p:extLst>
      <p:ext uri="{BB962C8B-B14F-4D97-AF65-F5344CB8AC3E}">
        <p14:creationId xmlns:p14="http://schemas.microsoft.com/office/powerpoint/2010/main" val="2351026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NZ" dirty="0" smtClean="0"/>
              <a:t>Comparisons</a:t>
            </a:r>
            <a:endParaRPr lang="en-NZ" dirty="0"/>
          </a:p>
        </p:txBody>
      </p:sp>
      <p:sp>
        <p:nvSpPr>
          <p:cNvPr id="6" name="Content Placeholder 5"/>
          <p:cNvSpPr>
            <a:spLocks noGrp="1"/>
          </p:cNvSpPr>
          <p:nvPr>
            <p:ph idx="1"/>
          </p:nvPr>
        </p:nvSpPr>
        <p:spPr/>
        <p:txBody>
          <a:bodyPr/>
          <a:lstStyle/>
          <a:p>
            <a:r>
              <a:rPr lang="en-NZ" dirty="0" smtClean="0"/>
              <a:t>Taken by water and </a:t>
            </a:r>
            <a:r>
              <a:rPr lang="en-NZ" dirty="0" err="1" smtClean="0"/>
              <a:t>sustainablility</a:t>
            </a:r>
            <a:r>
              <a:rPr lang="en-NZ" dirty="0" smtClean="0"/>
              <a:t>:</a:t>
            </a:r>
          </a:p>
          <a:p>
            <a:r>
              <a:rPr lang="en-NZ" dirty="0">
                <a:hlinkClick r:id="rId3"/>
              </a:rPr>
              <a:t>http://</a:t>
            </a:r>
            <a:r>
              <a:rPr lang="en-NZ" dirty="0" smtClean="0">
                <a:hlinkClick r:id="rId3"/>
              </a:rPr>
              <a:t>www.coca-colacompany.com/water-stewardship-replenish-report</a:t>
            </a:r>
            <a:endParaRPr lang="en-NZ" dirty="0" smtClean="0"/>
          </a:p>
          <a:p>
            <a:r>
              <a:rPr lang="en-NZ" dirty="0" smtClean="0"/>
              <a:t>I think I am going to compare with </a:t>
            </a:r>
            <a:r>
              <a:rPr lang="en-NZ" dirty="0" err="1" smtClean="0"/>
              <a:t>pepsico</a:t>
            </a:r>
            <a:endParaRPr lang="en-NZ" dirty="0" smtClean="0"/>
          </a:p>
          <a:p>
            <a:r>
              <a:rPr lang="en-NZ" dirty="0"/>
              <a:t> </a:t>
            </a:r>
            <a:r>
              <a:rPr lang="en-NZ" dirty="0" smtClean="0"/>
              <a:t>- I am going to focus on water OR sustainability (may look at both).</a:t>
            </a:r>
          </a:p>
          <a:p>
            <a:r>
              <a:rPr lang="en-NZ" dirty="0" err="1" smtClean="0"/>
              <a:t>Pepsico</a:t>
            </a:r>
            <a:r>
              <a:rPr lang="en-NZ" dirty="0" smtClean="0"/>
              <a:t> and Coca-Cola have sustainability reports. Will compare in with word clouds</a:t>
            </a:r>
          </a:p>
          <a:p>
            <a:r>
              <a:rPr lang="en-NZ" dirty="0" smtClean="0"/>
              <a:t>Why focus on sustainability? May need another slide</a:t>
            </a:r>
          </a:p>
        </p:txBody>
      </p:sp>
    </p:spTree>
    <p:extLst>
      <p:ext uri="{BB962C8B-B14F-4D97-AF65-F5344CB8AC3E}">
        <p14:creationId xmlns:p14="http://schemas.microsoft.com/office/powerpoint/2010/main" val="3316024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Time so far…</a:t>
            </a:r>
            <a:endParaRPr lang="en-NZ" dirty="0"/>
          </a:p>
        </p:txBody>
      </p:sp>
      <p:sp>
        <p:nvSpPr>
          <p:cNvPr id="3" name="Content Placeholder 2"/>
          <p:cNvSpPr>
            <a:spLocks noGrp="1"/>
          </p:cNvSpPr>
          <p:nvPr>
            <p:ph idx="1"/>
          </p:nvPr>
        </p:nvSpPr>
        <p:spPr/>
        <p:txBody>
          <a:bodyPr/>
          <a:lstStyle/>
          <a:p>
            <a:r>
              <a:rPr lang="en-NZ" dirty="0" smtClean="0"/>
              <a:t>I have worked on and off for about 5 hours to get to this point.</a:t>
            </a:r>
          </a:p>
          <a:p>
            <a:pPr lvl="1"/>
            <a:r>
              <a:rPr lang="en-NZ" dirty="0" smtClean="0"/>
              <a:t>One both </a:t>
            </a:r>
            <a:r>
              <a:rPr lang="en-NZ" dirty="0" err="1" smtClean="0"/>
              <a:t>ppts</a:t>
            </a:r>
            <a:r>
              <a:rPr lang="en-NZ" dirty="0" smtClean="0"/>
              <a:t>. </a:t>
            </a:r>
            <a:endParaRPr lang="en-NZ" dirty="0" smtClean="0"/>
          </a:p>
          <a:p>
            <a:r>
              <a:rPr lang="en-NZ" dirty="0" smtClean="0"/>
              <a:t>On-and-off means:</a:t>
            </a:r>
          </a:p>
          <a:p>
            <a:pPr lvl="1"/>
            <a:r>
              <a:rPr lang="en-NZ" dirty="0" smtClean="0"/>
              <a:t>I answered the phone</a:t>
            </a:r>
          </a:p>
          <a:p>
            <a:pPr lvl="1"/>
            <a:r>
              <a:rPr lang="en-NZ" dirty="0" smtClean="0"/>
              <a:t>Looked at emails</a:t>
            </a:r>
          </a:p>
          <a:p>
            <a:pPr lvl="1"/>
            <a:r>
              <a:rPr lang="en-NZ" dirty="0" smtClean="0"/>
              <a:t>Talked to people</a:t>
            </a:r>
          </a:p>
          <a:p>
            <a:pPr lvl="1"/>
            <a:r>
              <a:rPr lang="en-NZ" dirty="0" smtClean="0"/>
              <a:t>Went for a snack</a:t>
            </a:r>
            <a:endParaRPr lang="en-NZ" dirty="0" smtClean="0"/>
          </a:p>
        </p:txBody>
      </p:sp>
    </p:spTree>
    <p:extLst>
      <p:ext uri="{BB962C8B-B14F-4D97-AF65-F5344CB8AC3E}">
        <p14:creationId xmlns:p14="http://schemas.microsoft.com/office/powerpoint/2010/main" val="4222996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1647</Words>
  <Application>Microsoft Office PowerPoint</Application>
  <PresentationFormat>Widescreen</PresentationFormat>
  <Paragraphs>214</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Final Project Process</vt:lpstr>
      <vt:lpstr>The assessment</vt:lpstr>
      <vt:lpstr>Decide on company</vt:lpstr>
      <vt:lpstr>Focus</vt:lpstr>
      <vt:lpstr>Organization’s objective and a brief description</vt:lpstr>
      <vt:lpstr>Organization’s objective and a brief description</vt:lpstr>
      <vt:lpstr>Organization’s objective and a brief description</vt:lpstr>
      <vt:lpstr>Did you notice…</vt:lpstr>
      <vt:lpstr>Objectives and Description: Putting together a story and looking for trends</vt:lpstr>
      <vt:lpstr>Competitors</vt:lpstr>
      <vt:lpstr>SWOT</vt:lpstr>
      <vt:lpstr>Comparisons</vt:lpstr>
      <vt:lpstr>Time so far…</vt:lpstr>
    </vt:vector>
  </TitlesOfParts>
  <Company>Victoria University of Wellington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Process</dc:title>
  <dc:creator>Jennifer Campbell-Meier</dc:creator>
  <cp:lastModifiedBy>J Campbell-Meier</cp:lastModifiedBy>
  <cp:revision>27</cp:revision>
  <dcterms:created xsi:type="dcterms:W3CDTF">2016-10-05T03:11:06Z</dcterms:created>
  <dcterms:modified xsi:type="dcterms:W3CDTF">2016-10-06T23:38:04Z</dcterms:modified>
</cp:coreProperties>
</file>