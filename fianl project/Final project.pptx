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8" r:id="rId1"/>
  </p:sldMasterIdLst>
  <p:notesMasterIdLst>
    <p:notesMasterId r:id="rId18"/>
  </p:notesMasterIdLst>
  <p:sldIdLst>
    <p:sldId id="256" r:id="rId2"/>
    <p:sldId id="257" r:id="rId3"/>
    <p:sldId id="258" r:id="rId4"/>
    <p:sldId id="259" r:id="rId5"/>
    <p:sldId id="262" r:id="rId6"/>
    <p:sldId id="260" r:id="rId7"/>
    <p:sldId id="261" r:id="rId8"/>
    <p:sldId id="263" r:id="rId9"/>
    <p:sldId id="264" r:id="rId10"/>
    <p:sldId id="265" r:id="rId11"/>
    <p:sldId id="266" r:id="rId12"/>
    <p:sldId id="267" r:id="rId13"/>
    <p:sldId id="269" r:id="rId14"/>
    <p:sldId id="268" r:id="rId15"/>
    <p:sldId id="271"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92"/>
    <p:restoredTop sz="64969"/>
  </p:normalViewPr>
  <p:slideViewPr>
    <p:cSldViewPr snapToGrid="0" snapToObjects="1">
      <p:cViewPr varScale="1">
        <p:scale>
          <a:sx n="69" d="100"/>
          <a:sy n="69" d="100"/>
        </p:scale>
        <p:origin x="18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Workbook3"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Workbook3"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Workbook3"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Workbook3"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a:t>Domestic</a:t>
            </a:r>
            <a:r>
              <a:rPr lang="zh-CN"/>
              <a:t> </a:t>
            </a:r>
            <a:r>
              <a:rPr lang="en-US"/>
              <a:t>Stores</a:t>
            </a:r>
            <a:r>
              <a:rPr lang="zh-CN"/>
              <a:t> </a:t>
            </a:r>
            <a:r>
              <a:rPr lang="en-US"/>
              <a:t>Comparison</a:t>
            </a:r>
          </a:p>
        </c:rich>
      </c:tx>
      <c:layout/>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0941075487989813"/>
          <c:y val="0.289552845528455"/>
          <c:w val="0.87215907117355"/>
          <c:h val="0.63879425132834"/>
        </c:manualLayout>
      </c:layout>
      <c:lineChart>
        <c:grouping val="stacked"/>
        <c:varyColors val="0"/>
        <c:ser>
          <c:idx val="0"/>
          <c:order val="0"/>
          <c:tx>
            <c:strRef>
              <c:f>Sheet1!$B$1</c:f>
              <c:strCache>
                <c:ptCount val="1"/>
                <c:pt idx="0">
                  <c:v>Domino'sDomesticStores</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Sheet1!$B$2:$B$6</c:f>
              <c:numCache>
                <c:formatCode>General</c:formatCode>
                <c:ptCount val="5"/>
                <c:pt idx="0">
                  <c:v>4928.0</c:v>
                </c:pt>
                <c:pt idx="1">
                  <c:v>4986.0</c:v>
                </c:pt>
                <c:pt idx="2">
                  <c:v>5067.0</c:v>
                </c:pt>
                <c:pt idx="3">
                  <c:v>5200.0</c:v>
                </c:pt>
                <c:pt idx="4">
                  <c:v>5371.0</c:v>
                </c:pt>
              </c:numCache>
            </c:numRef>
          </c:val>
          <c:smooth val="0"/>
        </c:ser>
        <c:ser>
          <c:idx val="1"/>
          <c:order val="1"/>
          <c:tx>
            <c:strRef>
              <c:f>Sheet1!$C$1</c:f>
              <c:strCache>
                <c:ptCount val="1"/>
                <c:pt idx="0">
                  <c:v>PapaJohn'sDomesticStores</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Sheet1!$C$2:$C$6</c:f>
              <c:numCache>
                <c:formatCode>General</c:formatCode>
                <c:ptCount val="5"/>
                <c:pt idx="0">
                  <c:v>3158.0</c:v>
                </c:pt>
                <c:pt idx="1">
                  <c:v>3262.0</c:v>
                </c:pt>
                <c:pt idx="2">
                  <c:v>3340.0</c:v>
                </c:pt>
                <c:pt idx="3">
                  <c:v>3388.0</c:v>
                </c:pt>
                <c:pt idx="4">
                  <c:v>3441.0</c:v>
                </c:pt>
              </c:numCache>
            </c:numRef>
          </c:val>
          <c:smooth val="0"/>
        </c:ser>
        <c:dLbls>
          <c:showLegendKey val="0"/>
          <c:showVal val="0"/>
          <c:showCatName val="0"/>
          <c:showSerName val="0"/>
          <c:showPercent val="0"/>
          <c:showBubbleSize val="0"/>
        </c:dLbls>
        <c:marker val="1"/>
        <c:smooth val="0"/>
        <c:axId val="393592320"/>
        <c:axId val="393596816"/>
      </c:lineChart>
      <c:catAx>
        <c:axId val="39359232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393596816"/>
        <c:crosses val="autoZero"/>
        <c:auto val="1"/>
        <c:lblAlgn val="ctr"/>
        <c:lblOffset val="100"/>
        <c:noMultiLvlLbl val="0"/>
      </c:catAx>
      <c:valAx>
        <c:axId val="393596816"/>
        <c:scaling>
          <c:orientation val="minMax"/>
        </c:scaling>
        <c:delete val="0"/>
        <c:axPos val="l"/>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3592320"/>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a:t>domestic stores revenue comparison</a:t>
            </a:r>
          </a:p>
        </c:rich>
      </c:tx>
      <c:layout/>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Sheet1!$D$1</c:f>
              <c:strCache>
                <c:ptCount val="1"/>
                <c:pt idx="0">
                  <c:v>Domino'sDomesticStores Revenue($m)</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Sheet1!$D$2:$D$6</c:f>
              <c:numCache>
                <c:formatCode>General</c:formatCode>
                <c:ptCount val="5"/>
                <c:pt idx="0">
                  <c:v>518.7</c:v>
                </c:pt>
                <c:pt idx="1">
                  <c:v>549.8</c:v>
                </c:pt>
                <c:pt idx="2">
                  <c:v>578.7</c:v>
                </c:pt>
                <c:pt idx="3">
                  <c:v>669.7</c:v>
                </c:pt>
                <c:pt idx="4">
                  <c:v>751.3</c:v>
                </c:pt>
              </c:numCache>
            </c:numRef>
          </c:val>
          <c:smooth val="0"/>
        </c:ser>
        <c:ser>
          <c:idx val="1"/>
          <c:order val="1"/>
          <c:tx>
            <c:strRef>
              <c:f>Sheet1!$E$1</c:f>
              <c:strCache>
                <c:ptCount val="1"/>
                <c:pt idx="0">
                  <c:v>PapaJohn'sDomesticStores Revenue($m)</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Sheet1!$E$2:$E$6</c:f>
              <c:numCache>
                <c:formatCode>General</c:formatCode>
                <c:ptCount val="5"/>
                <c:pt idx="0">
                  <c:v>672.6</c:v>
                </c:pt>
                <c:pt idx="1">
                  <c:v>718.2</c:v>
                </c:pt>
                <c:pt idx="2">
                  <c:v>792.1</c:v>
                </c:pt>
                <c:pt idx="3">
                  <c:v>852.5</c:v>
                </c:pt>
                <c:pt idx="4">
                  <c:v>918.9</c:v>
                </c:pt>
              </c:numCache>
            </c:numRef>
          </c:val>
          <c:smooth val="0"/>
        </c:ser>
        <c:dLbls>
          <c:showLegendKey val="0"/>
          <c:showVal val="0"/>
          <c:showCatName val="0"/>
          <c:showSerName val="0"/>
          <c:showPercent val="0"/>
          <c:showBubbleSize val="0"/>
        </c:dLbls>
        <c:marker val="1"/>
        <c:smooth val="0"/>
        <c:axId val="393764192"/>
        <c:axId val="393768832"/>
      </c:lineChart>
      <c:catAx>
        <c:axId val="393764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393768832"/>
        <c:crosses val="autoZero"/>
        <c:auto val="1"/>
        <c:lblAlgn val="ctr"/>
        <c:lblOffset val="100"/>
        <c:noMultiLvlLbl val="0"/>
      </c:catAx>
      <c:valAx>
        <c:axId val="393768832"/>
        <c:scaling>
          <c:orientation val="minMax"/>
        </c:scaling>
        <c:delete val="0"/>
        <c:axPos val="l"/>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3764192"/>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sz="1800" b="1" i="0" cap="all" baseline="0">
                <a:effectLst/>
              </a:rPr>
              <a:t>International Stores</a:t>
            </a:r>
            <a:r>
              <a:rPr lang="en-US" altLang="zh-CN" sz="1800" b="1" i="0" cap="all" baseline="0">
                <a:effectLst/>
              </a:rPr>
              <a:t> </a:t>
            </a:r>
            <a:r>
              <a:rPr lang="en-US" sz="1800" b="1" i="0" cap="all" baseline="0">
                <a:effectLst/>
              </a:rPr>
              <a:t>Comparison</a:t>
            </a:r>
            <a:endParaRPr lang="en-US">
              <a:effectLst/>
            </a:endParaRPr>
          </a:p>
        </c:rich>
      </c:tx>
      <c:layout/>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Sheet1!$F$1</c:f>
              <c:strCache>
                <c:ptCount val="1"/>
                <c:pt idx="0">
                  <c:v>Domino'sInternationalStores</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Sheet1!$F$2:$F$6</c:f>
              <c:numCache>
                <c:formatCode>General</c:formatCode>
                <c:ptCount val="5"/>
                <c:pt idx="0">
                  <c:v>5327.0</c:v>
                </c:pt>
                <c:pt idx="1">
                  <c:v>5900.0</c:v>
                </c:pt>
                <c:pt idx="2">
                  <c:v>6562.0</c:v>
                </c:pt>
                <c:pt idx="3">
                  <c:v>7300.0</c:v>
                </c:pt>
                <c:pt idx="4">
                  <c:v>8440.0</c:v>
                </c:pt>
              </c:numCache>
            </c:numRef>
          </c:val>
          <c:smooth val="0"/>
        </c:ser>
        <c:ser>
          <c:idx val="1"/>
          <c:order val="1"/>
          <c:tx>
            <c:strRef>
              <c:f>Sheet1!$G$1</c:f>
              <c:strCache>
                <c:ptCount val="1"/>
                <c:pt idx="0">
                  <c:v>PapaJohn'sInternationalStores</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Sheet1!$G$2:$G$6</c:f>
              <c:numCache>
                <c:formatCode>General</c:formatCode>
                <c:ptCount val="5"/>
                <c:pt idx="0">
                  <c:v>1024.0</c:v>
                </c:pt>
                <c:pt idx="1">
                  <c:v>1203.0</c:v>
                </c:pt>
                <c:pt idx="2">
                  <c:v>1323.0</c:v>
                </c:pt>
                <c:pt idx="3">
                  <c:v>1505.0</c:v>
                </c:pt>
                <c:pt idx="4">
                  <c:v>1656.0</c:v>
                </c:pt>
              </c:numCache>
            </c:numRef>
          </c:val>
          <c:smooth val="0"/>
        </c:ser>
        <c:dLbls>
          <c:showLegendKey val="0"/>
          <c:showVal val="0"/>
          <c:showCatName val="0"/>
          <c:showSerName val="0"/>
          <c:showPercent val="0"/>
          <c:showBubbleSize val="0"/>
        </c:dLbls>
        <c:marker val="1"/>
        <c:smooth val="0"/>
        <c:axId val="393882752"/>
        <c:axId val="393887392"/>
      </c:lineChart>
      <c:catAx>
        <c:axId val="393882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393887392"/>
        <c:crosses val="autoZero"/>
        <c:auto val="1"/>
        <c:lblAlgn val="ctr"/>
        <c:lblOffset val="100"/>
        <c:noMultiLvlLbl val="0"/>
      </c:catAx>
      <c:valAx>
        <c:axId val="393887392"/>
        <c:scaling>
          <c:orientation val="minMax"/>
        </c:scaling>
        <c:delete val="0"/>
        <c:axPos val="l"/>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3882752"/>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sz="1800" b="1" i="0" cap="all" baseline="0">
                <a:effectLst/>
              </a:rPr>
              <a:t>International Stores Revenue Comparison</a:t>
            </a:r>
            <a:endParaRPr lang="en-US">
              <a:effectLst/>
            </a:endParaRPr>
          </a:p>
        </c:rich>
      </c:tx>
      <c:layout/>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Sheet1!$H$1</c:f>
              <c:strCache>
                <c:ptCount val="1"/>
                <c:pt idx="0">
                  <c:v>Domino'sInternationalStores Revenue($m)</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Sheet1!$H$2:$H$6</c:f>
              <c:numCache>
                <c:formatCode>General</c:formatCode>
                <c:ptCount val="5"/>
                <c:pt idx="0">
                  <c:v>120.0</c:v>
                </c:pt>
                <c:pt idx="1">
                  <c:v>133.6</c:v>
                </c:pt>
                <c:pt idx="2">
                  <c:v>152.6</c:v>
                </c:pt>
                <c:pt idx="3">
                  <c:v>163.6</c:v>
                </c:pt>
                <c:pt idx="4">
                  <c:v>177.0</c:v>
                </c:pt>
              </c:numCache>
            </c:numRef>
          </c:val>
          <c:smooth val="0"/>
        </c:ser>
        <c:ser>
          <c:idx val="1"/>
          <c:order val="1"/>
          <c:tx>
            <c:strRef>
              <c:f>Sheet1!$I$1</c:f>
              <c:strCache>
                <c:ptCount val="1"/>
                <c:pt idx="0">
                  <c:v>PapaJohn'sInternationalStores Revenue($m)</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Sheet1!$I$2:$I$6</c:f>
              <c:numCache>
                <c:formatCode>General</c:formatCode>
                <c:ptCount val="5"/>
                <c:pt idx="0">
                  <c:v>72.9</c:v>
                </c:pt>
                <c:pt idx="1">
                  <c:v>88.6</c:v>
                </c:pt>
                <c:pt idx="2">
                  <c:v>102.5</c:v>
                </c:pt>
                <c:pt idx="3">
                  <c:v>104.7</c:v>
                </c:pt>
                <c:pt idx="4">
                  <c:v>113.1</c:v>
                </c:pt>
              </c:numCache>
            </c:numRef>
          </c:val>
          <c:smooth val="0"/>
        </c:ser>
        <c:dLbls>
          <c:showLegendKey val="0"/>
          <c:showVal val="0"/>
          <c:showCatName val="0"/>
          <c:showSerName val="0"/>
          <c:showPercent val="0"/>
          <c:showBubbleSize val="0"/>
        </c:dLbls>
        <c:marker val="1"/>
        <c:smooth val="0"/>
        <c:axId val="318710960"/>
        <c:axId val="392475904"/>
      </c:lineChart>
      <c:catAx>
        <c:axId val="31871096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392475904"/>
        <c:crosses val="autoZero"/>
        <c:auto val="1"/>
        <c:lblAlgn val="ctr"/>
        <c:lblOffset val="100"/>
        <c:noMultiLvlLbl val="0"/>
      </c:catAx>
      <c:valAx>
        <c:axId val="392475904"/>
        <c:scaling>
          <c:orientation val="minMax"/>
        </c:scaling>
        <c:delete val="0"/>
        <c:axPos val="l"/>
        <c:numFmt formatCode="General" sourceLinked="0"/>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8710960"/>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CC30A6-1265-B044-A687-8EF42E770460}" type="datetimeFigureOut">
              <a:rPr lang="en-US" smtClean="0"/>
              <a:t>11/2/17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5DE431-E345-8D41-B5F0-724494DBB331}" type="slidenum">
              <a:rPr lang="en-US" smtClean="0"/>
              <a:t>‹#›</a:t>
            </a:fld>
            <a:endParaRPr lang="en-US"/>
          </a:p>
        </p:txBody>
      </p:sp>
    </p:spTree>
    <p:extLst>
      <p:ext uri="{BB962C8B-B14F-4D97-AF65-F5344CB8AC3E}">
        <p14:creationId xmlns:p14="http://schemas.microsoft.com/office/powerpoint/2010/main" val="89621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www.referenceforbusiness.com/history2/60/Domino-s-Pizza-Inc.html#ixzz4wtSrDJtD"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smtClean="0"/>
              <a:t>Domino’s</a:t>
            </a:r>
            <a:r>
              <a:rPr lang="zh-CN" altLang="en-US" dirty="0" smtClean="0"/>
              <a:t> </a:t>
            </a:r>
            <a:r>
              <a:rPr lang="en-US" altLang="zh-CN" dirty="0" smtClean="0"/>
              <a:t>Pizza,</a:t>
            </a:r>
            <a:r>
              <a:rPr lang="zh-CN" altLang="en-US" dirty="0" smtClean="0"/>
              <a:t> </a:t>
            </a:r>
            <a:r>
              <a:rPr lang="en-US" altLang="zh-CN" dirty="0" smtClean="0"/>
              <a:t>Inc.</a:t>
            </a:r>
            <a:r>
              <a:rPr lang="zh-CN" altLang="en-US" dirty="0" smtClean="0"/>
              <a:t> </a:t>
            </a:r>
            <a:r>
              <a:rPr lang="en-US" altLang="zh-CN" dirty="0" smtClean="0"/>
              <a:t>2016</a:t>
            </a:r>
            <a:r>
              <a:rPr lang="zh-CN" altLang="en-US" dirty="0" smtClean="0"/>
              <a:t> </a:t>
            </a:r>
            <a:r>
              <a:rPr lang="en-US" altLang="zh-CN" dirty="0" smtClean="0"/>
              <a:t>Annual</a:t>
            </a:r>
            <a:r>
              <a:rPr lang="zh-CN" altLang="en-US" dirty="0" smtClean="0"/>
              <a:t> </a:t>
            </a:r>
            <a:r>
              <a:rPr lang="en-US" altLang="zh-CN" dirty="0" smtClean="0"/>
              <a:t>report.</a:t>
            </a:r>
            <a:r>
              <a:rPr lang="zh-CN" altLang="en-US" dirty="0" smtClean="0"/>
              <a:t> </a:t>
            </a:r>
            <a:r>
              <a:rPr lang="en-US" altLang="zh-CN" dirty="0" smtClean="0"/>
              <a:t>Retrieved</a:t>
            </a:r>
            <a:r>
              <a:rPr lang="zh-CN" altLang="en-US" dirty="0" smtClean="0"/>
              <a:t> </a:t>
            </a:r>
            <a:r>
              <a:rPr lang="en-US" altLang="zh-CN" dirty="0" smtClean="0"/>
              <a:t>from:</a:t>
            </a:r>
            <a:r>
              <a:rPr lang="zh-CN" altLang="en-US" dirty="0" smtClean="0"/>
              <a:t> </a:t>
            </a:r>
            <a:r>
              <a:rPr lang="en-US" altLang="zh-CN" dirty="0" smtClean="0"/>
              <a:t>http://</a:t>
            </a:r>
            <a:r>
              <a:rPr lang="en-US" altLang="zh-CN" dirty="0" err="1" smtClean="0"/>
              <a:t>phx.corporate-ir.net</a:t>
            </a:r>
            <a:r>
              <a:rPr lang="en-US" altLang="zh-CN" dirty="0" smtClean="0"/>
              <a:t>/</a:t>
            </a:r>
            <a:r>
              <a:rPr lang="en-US" altLang="zh-CN" dirty="0" err="1" smtClean="0"/>
              <a:t>phoenix.zhtml?c</a:t>
            </a:r>
            <a:r>
              <a:rPr lang="en-US" altLang="zh-CN" dirty="0" smtClean="0"/>
              <a:t>=135383&amp;p=</a:t>
            </a:r>
            <a:r>
              <a:rPr lang="en-US" altLang="zh-CN" dirty="0" err="1" smtClean="0"/>
              <a:t>irol-reportsannual</a:t>
            </a:r>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2</a:t>
            </a:fld>
            <a:endParaRPr lang="en-US"/>
          </a:p>
        </p:txBody>
      </p:sp>
    </p:spTree>
    <p:extLst>
      <p:ext uri="{BB962C8B-B14F-4D97-AF65-F5344CB8AC3E}">
        <p14:creationId xmlns:p14="http://schemas.microsoft.com/office/powerpoint/2010/main" val="889068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Domino‘s Pizza, Inc. - Company Profile, Information, Business Description, History, Background Information on Domino’s Pizza, Inc.</a:t>
            </a:r>
            <a:br>
              <a:rPr lang="en-US"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n.d.</a:t>
            </a:r>
            <a:r>
              <a:rPr lang="en-US" altLang="zh-CN" sz="1200" b="0" i="0" kern="1200" dirty="0" smtClean="0">
                <a:solidFill>
                  <a:schemeClr val="tx1"/>
                </a:solidFill>
                <a:effectLst/>
                <a:latin typeface="+mn-lt"/>
                <a:ea typeface="+mn-ea"/>
                <a:cs typeface="+mn-cs"/>
              </a:rPr>
              <a:t>).</a:t>
            </a:r>
            <a:r>
              <a:rPr lang="zh-CN" altLang="en-US" sz="1200" b="0" i="0" kern="1200" baseline="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Retrieved</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from</a:t>
            </a:r>
            <a:r>
              <a:rPr lang="en-US" dirty="0" smtClean="0"/>
              <a:t> : </a:t>
            </a:r>
            <a:r>
              <a:rPr lang="en-US" dirty="0" smtClean="0">
                <a:hlinkClick r:id="rId3"/>
              </a:rPr>
              <a:t>http://www.referenceforbusiness.com/history2/60/Domino-s-Pizza-Inc.html#ixzz4wtSrDJtD</a:t>
            </a:r>
            <a:endParaRPr lang="en-US" dirty="0" smtClean="0"/>
          </a:p>
          <a:p>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3</a:t>
            </a:fld>
            <a:endParaRPr lang="en-US"/>
          </a:p>
        </p:txBody>
      </p:sp>
    </p:spTree>
    <p:extLst>
      <p:ext uri="{BB962C8B-B14F-4D97-AF65-F5344CB8AC3E}">
        <p14:creationId xmlns:p14="http://schemas.microsoft.com/office/powerpoint/2010/main" val="206991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1" i="0" kern="1200" dirty="0" smtClean="0">
                <a:solidFill>
                  <a:schemeClr val="tx1"/>
                </a:solidFill>
                <a:effectLst/>
                <a:latin typeface="+mn-lt"/>
                <a:ea typeface="+mn-ea"/>
                <a:cs typeface="+mn-cs"/>
              </a:rPr>
              <a:t>Put people first</a:t>
            </a:r>
          </a:p>
          <a:p>
            <a:r>
              <a:rPr lang="en-NZ" sz="1200" b="0" i="0" kern="1200" dirty="0" smtClean="0">
                <a:solidFill>
                  <a:schemeClr val="tx1"/>
                </a:solidFill>
                <a:effectLst/>
                <a:latin typeface="+mn-lt"/>
                <a:ea typeface="+mn-ea"/>
                <a:cs typeface="+mn-cs"/>
              </a:rPr>
              <a:t>Team Members are the backbone of the company. To become the best pizza delivery company in the world, we need to treat team Member accordingly: rewarding dedication and hard work with opportunities for personal growth and career progression.</a:t>
            </a:r>
          </a:p>
          <a:p>
            <a:endParaRPr lang="en-NZ" sz="1200" b="0" i="0" kern="1200" dirty="0" smtClean="0">
              <a:solidFill>
                <a:schemeClr val="tx1"/>
              </a:solidFill>
              <a:effectLst/>
              <a:latin typeface="+mn-lt"/>
              <a:ea typeface="+mn-ea"/>
              <a:cs typeface="+mn-cs"/>
            </a:endParaRPr>
          </a:p>
          <a:p>
            <a:r>
              <a:rPr lang="en-NZ" sz="1200" b="1" i="0" kern="1200" dirty="0" smtClean="0">
                <a:solidFill>
                  <a:schemeClr val="tx1"/>
                </a:solidFill>
                <a:effectLst/>
                <a:latin typeface="+mn-lt"/>
                <a:ea typeface="+mn-ea"/>
                <a:cs typeface="+mn-cs"/>
              </a:rPr>
              <a:t>Build the brand stores</a:t>
            </a:r>
          </a:p>
          <a:p>
            <a:r>
              <a:rPr lang="en-NZ" sz="1200" b="0" i="0" kern="1200" dirty="0" smtClean="0">
                <a:solidFill>
                  <a:schemeClr val="tx1"/>
                </a:solidFill>
                <a:effectLst/>
                <a:latin typeface="+mn-lt"/>
                <a:ea typeface="+mn-ea"/>
                <a:cs typeface="+mn-cs"/>
              </a:rPr>
              <a:t>Domino's must continue to grow by looking for opportunities to strengthen its existing markets and building stores in the new markets. We must also continue to strength our brand through providing exceptional quality and service.</a:t>
            </a:r>
          </a:p>
          <a:p>
            <a:endParaRPr lang="en-NZ" sz="1200" b="0" i="0" kern="1200" dirty="0" smtClean="0">
              <a:solidFill>
                <a:schemeClr val="tx1"/>
              </a:solidFill>
              <a:effectLst/>
              <a:latin typeface="+mn-lt"/>
              <a:ea typeface="+mn-ea"/>
              <a:cs typeface="+mn-cs"/>
            </a:endParaRPr>
          </a:p>
          <a:p>
            <a:r>
              <a:rPr lang="en-NZ" sz="1200" b="1" i="0" kern="1200" dirty="0" smtClean="0">
                <a:solidFill>
                  <a:schemeClr val="tx1"/>
                </a:solidFill>
                <a:effectLst/>
                <a:latin typeface="+mn-lt"/>
                <a:ea typeface="+mn-ea"/>
                <a:cs typeface="+mn-cs"/>
              </a:rPr>
              <a:t>Achieve flawless execution</a:t>
            </a:r>
          </a:p>
          <a:p>
            <a:r>
              <a:rPr lang="en-NZ" sz="1200" b="0" i="0" kern="1200" dirty="0" smtClean="0">
                <a:solidFill>
                  <a:schemeClr val="tx1"/>
                </a:solidFill>
                <a:effectLst/>
                <a:latin typeface="+mn-lt"/>
                <a:ea typeface="+mn-ea"/>
                <a:cs typeface="+mn-cs"/>
              </a:rPr>
              <a:t>To exceed our customer's expectations, Dominos need to strive to execute store operations flawlessly. Every order must go out the door quickly, correctly and at the highest quality possible, creating and maintaining loyal customer.</a:t>
            </a:r>
          </a:p>
          <a:p>
            <a:endParaRPr lang="en-NZ" sz="1200" b="0" i="0" kern="1200" dirty="0" smtClean="0">
              <a:solidFill>
                <a:schemeClr val="tx1"/>
              </a:solidFill>
              <a:effectLst/>
              <a:latin typeface="+mn-lt"/>
              <a:ea typeface="+mn-ea"/>
              <a:cs typeface="+mn-cs"/>
            </a:endParaRPr>
          </a:p>
          <a:p>
            <a:r>
              <a:rPr lang="en-NZ" sz="1200" b="1" i="0" kern="1200" dirty="0" smtClean="0">
                <a:solidFill>
                  <a:schemeClr val="tx1"/>
                </a:solidFill>
                <a:effectLst/>
                <a:latin typeface="+mn-lt"/>
                <a:ea typeface="+mn-ea"/>
                <a:cs typeface="+mn-cs"/>
              </a:rPr>
              <a:t>Maintain high standards</a:t>
            </a:r>
          </a:p>
          <a:p>
            <a:r>
              <a:rPr lang="en-NZ" sz="1200" b="0" i="0" kern="1200" dirty="0" smtClean="0">
                <a:solidFill>
                  <a:schemeClr val="tx1"/>
                </a:solidFill>
                <a:effectLst/>
                <a:latin typeface="+mn-lt"/>
                <a:ea typeface="+mn-ea"/>
                <a:cs typeface="+mn-cs"/>
              </a:rPr>
              <a:t>We have set very high quality standards. We must make sure those standards are being met at every step of the process.</a:t>
            </a:r>
          </a:p>
          <a:p>
            <a:endParaRPr lang="en-NZ" sz="1200" b="0" i="0" kern="1200" dirty="0" smtClean="0">
              <a:solidFill>
                <a:schemeClr val="tx1"/>
              </a:solidFill>
              <a:effectLst/>
              <a:latin typeface="+mn-lt"/>
              <a:ea typeface="+mn-ea"/>
              <a:cs typeface="+mn-cs"/>
            </a:endParaRPr>
          </a:p>
          <a:p>
            <a:r>
              <a:rPr lang="en-NZ" b="1" dirty="0" smtClean="0"/>
              <a:t>References:</a:t>
            </a:r>
          </a:p>
          <a:p>
            <a:r>
              <a:rPr lang="en-NZ" dirty="0" smtClean="0"/>
              <a:t>Essays, UK. (November 2013). Vision And Strategy To Achieve Vision Domino Pizza. Retrieved from https://</a:t>
            </a:r>
            <a:r>
              <a:rPr lang="en-NZ" dirty="0" err="1" smtClean="0"/>
              <a:t>www.ukessays.com</a:t>
            </a:r>
            <a:r>
              <a:rPr lang="en-NZ" dirty="0" smtClean="0"/>
              <a:t>/essays/management/</a:t>
            </a:r>
            <a:r>
              <a:rPr lang="en-NZ" dirty="0" err="1" smtClean="0"/>
              <a:t>vision-and-strategy-to-achieve-vision-domino-pizza.php?cref</a:t>
            </a:r>
            <a:r>
              <a:rPr lang="en-NZ" dirty="0" smtClean="0"/>
              <a:t>=1</a:t>
            </a:r>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4</a:t>
            </a:fld>
            <a:endParaRPr lang="en-US"/>
          </a:p>
        </p:txBody>
      </p:sp>
    </p:spTree>
    <p:extLst>
      <p:ext uri="{BB962C8B-B14F-4D97-AF65-F5344CB8AC3E}">
        <p14:creationId xmlns:p14="http://schemas.microsoft.com/office/powerpoint/2010/main" val="26435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smtClean="0"/>
              <a:t>This</a:t>
            </a:r>
            <a:r>
              <a:rPr lang="zh-CN" altLang="en-US" dirty="0" smtClean="0"/>
              <a:t> </a:t>
            </a:r>
            <a:r>
              <a:rPr lang="en-US" altLang="zh-CN" dirty="0" smtClean="0"/>
              <a:t>word</a:t>
            </a:r>
            <a:r>
              <a:rPr lang="zh-CN" altLang="en-US" dirty="0" smtClean="0"/>
              <a:t> </a:t>
            </a:r>
            <a:r>
              <a:rPr lang="en-US" altLang="zh-CN" dirty="0" smtClean="0"/>
              <a:t>cloud</a:t>
            </a:r>
            <a:r>
              <a:rPr lang="zh-CN" altLang="en-US" dirty="0" smtClean="0"/>
              <a:t> </a:t>
            </a:r>
            <a:r>
              <a:rPr lang="en-US" altLang="zh-CN" dirty="0" smtClean="0"/>
              <a:t>is</a:t>
            </a:r>
            <a:r>
              <a:rPr lang="zh-CN" altLang="en-US" dirty="0" smtClean="0"/>
              <a:t> </a:t>
            </a:r>
            <a:r>
              <a:rPr lang="en-US" altLang="zh-CN" dirty="0" smtClean="0"/>
              <a:t>a</a:t>
            </a:r>
            <a:r>
              <a:rPr lang="zh-CN" altLang="en-US" dirty="0" smtClean="0"/>
              <a:t> </a:t>
            </a:r>
            <a:r>
              <a:rPr lang="en-US" altLang="zh-CN" dirty="0" smtClean="0"/>
              <a:t>summary</a:t>
            </a:r>
            <a:r>
              <a:rPr lang="zh-CN" altLang="en-US" dirty="0" smtClean="0"/>
              <a:t> </a:t>
            </a:r>
            <a:r>
              <a:rPr lang="en-US" altLang="zh-CN" dirty="0" smtClean="0"/>
              <a:t>of</a:t>
            </a:r>
            <a:r>
              <a:rPr lang="zh-CN" altLang="en-US" dirty="0" smtClean="0"/>
              <a:t> </a:t>
            </a:r>
            <a:r>
              <a:rPr lang="en-US" altLang="zh-CN" dirty="0" smtClean="0"/>
              <a:t>Domino’s</a:t>
            </a:r>
            <a:r>
              <a:rPr lang="zh-CN" altLang="en-US" dirty="0" smtClean="0"/>
              <a:t> </a:t>
            </a:r>
            <a:r>
              <a:rPr lang="en-US" altLang="zh-CN" dirty="0" smtClean="0"/>
              <a:t>Pizza,</a:t>
            </a:r>
            <a:r>
              <a:rPr lang="zh-CN" altLang="en-US" dirty="0" smtClean="0"/>
              <a:t> </a:t>
            </a:r>
            <a:r>
              <a:rPr lang="en-US" altLang="zh-CN" dirty="0" smtClean="0"/>
              <a:t>Inc.</a:t>
            </a:r>
            <a:r>
              <a:rPr lang="zh-CN" altLang="en-US" dirty="0" smtClean="0"/>
              <a:t> </a:t>
            </a:r>
            <a:r>
              <a:rPr lang="en-US" altLang="zh-CN" dirty="0" smtClean="0"/>
              <a:t>2016</a:t>
            </a:r>
            <a:r>
              <a:rPr lang="zh-CN" altLang="en-US" dirty="0" smtClean="0"/>
              <a:t> </a:t>
            </a:r>
            <a:r>
              <a:rPr lang="en-US" altLang="zh-CN" dirty="0" smtClean="0"/>
              <a:t>Annual</a:t>
            </a:r>
            <a:r>
              <a:rPr lang="zh-CN" altLang="en-US" dirty="0" smtClean="0"/>
              <a:t> </a:t>
            </a:r>
            <a:r>
              <a:rPr lang="en-US" altLang="zh-CN" dirty="0" smtClean="0"/>
              <a:t>report.</a:t>
            </a:r>
            <a:r>
              <a:rPr lang="zh-CN" altLang="en-US" dirty="0" smtClean="0"/>
              <a:t> </a:t>
            </a:r>
            <a:r>
              <a:rPr lang="en-US" altLang="zh-CN" dirty="0" smtClean="0"/>
              <a:t>We</a:t>
            </a:r>
            <a:r>
              <a:rPr lang="zh-CN" altLang="en-US" dirty="0" smtClean="0"/>
              <a:t> </a:t>
            </a:r>
            <a:r>
              <a:rPr lang="en-US" altLang="zh-CN" dirty="0" smtClean="0"/>
              <a:t>could</a:t>
            </a:r>
            <a:r>
              <a:rPr lang="zh-CN" altLang="en-US" dirty="0" smtClean="0"/>
              <a:t> </a:t>
            </a:r>
            <a:r>
              <a:rPr lang="en-US" altLang="zh-CN" dirty="0" smtClean="0"/>
              <a:t>find</a:t>
            </a:r>
            <a:r>
              <a:rPr lang="zh-CN" altLang="en-US" dirty="0" smtClean="0"/>
              <a:t> </a:t>
            </a:r>
            <a:r>
              <a:rPr lang="en-US" altLang="zh-CN" dirty="0" smtClean="0"/>
              <a:t>that</a:t>
            </a:r>
            <a:r>
              <a:rPr lang="zh-CN" altLang="en-US" dirty="0" smtClean="0"/>
              <a:t> </a:t>
            </a:r>
            <a:r>
              <a:rPr lang="en-US" altLang="zh-CN" dirty="0" smtClean="0"/>
              <a:t>the</a:t>
            </a:r>
            <a:r>
              <a:rPr lang="zh-CN" altLang="en-US" dirty="0" smtClean="0"/>
              <a:t> </a:t>
            </a:r>
            <a:r>
              <a:rPr lang="en-US" altLang="zh-CN" dirty="0" smtClean="0"/>
              <a:t>key</a:t>
            </a:r>
            <a:r>
              <a:rPr lang="zh-CN" altLang="en-US" dirty="0" smtClean="0"/>
              <a:t> </a:t>
            </a:r>
            <a:r>
              <a:rPr lang="en-US" altLang="zh-CN" dirty="0" smtClean="0"/>
              <a:t>words</a:t>
            </a:r>
            <a:r>
              <a:rPr lang="zh-CN" altLang="en-US" dirty="0" smtClean="0"/>
              <a:t> </a:t>
            </a:r>
            <a:r>
              <a:rPr lang="en-US" altLang="zh-CN" dirty="0" smtClean="0"/>
              <a:t>are</a:t>
            </a:r>
            <a:r>
              <a:rPr lang="zh-CN" altLang="en-US" dirty="0" smtClean="0"/>
              <a:t> </a:t>
            </a:r>
            <a:r>
              <a:rPr lang="en-US" altLang="zh-CN" dirty="0" smtClean="0"/>
              <a:t>”international”,</a:t>
            </a:r>
            <a:r>
              <a:rPr lang="zh-CN" altLang="en-US" dirty="0" smtClean="0"/>
              <a:t> </a:t>
            </a:r>
            <a:r>
              <a:rPr lang="en-US" altLang="zh-CN" dirty="0" smtClean="0"/>
              <a:t>“financial”,</a:t>
            </a:r>
            <a:r>
              <a:rPr lang="zh-CN" altLang="en-US" dirty="0" smtClean="0"/>
              <a:t> </a:t>
            </a:r>
            <a:r>
              <a:rPr lang="en-US" altLang="zh-CN" dirty="0" smtClean="0"/>
              <a:t>“supply”,</a:t>
            </a:r>
            <a:r>
              <a:rPr lang="zh-CN" altLang="en-US" dirty="0" smtClean="0"/>
              <a:t> </a:t>
            </a:r>
            <a:r>
              <a:rPr lang="en-US" altLang="zh-CN" dirty="0" smtClean="0"/>
              <a:t>“chain”,</a:t>
            </a:r>
            <a:r>
              <a:rPr lang="zh-CN" altLang="en-US" dirty="0" smtClean="0"/>
              <a:t> </a:t>
            </a:r>
            <a:r>
              <a:rPr lang="en-US" altLang="zh-CN" dirty="0" smtClean="0"/>
              <a:t>“domestic”,</a:t>
            </a:r>
            <a:r>
              <a:rPr lang="zh-CN" altLang="en-US" dirty="0" smtClean="0"/>
              <a:t> </a:t>
            </a:r>
            <a:r>
              <a:rPr lang="en-US" altLang="zh-CN" dirty="0" smtClean="0"/>
              <a:t>etc.</a:t>
            </a:r>
            <a:r>
              <a:rPr lang="zh-CN" altLang="en-US" dirty="0" smtClean="0"/>
              <a:t> </a:t>
            </a:r>
            <a:r>
              <a:rPr lang="en-US" altLang="zh-CN" dirty="0" smtClean="0"/>
              <a:t>This</a:t>
            </a:r>
            <a:r>
              <a:rPr lang="zh-CN" altLang="en-US" dirty="0" smtClean="0"/>
              <a:t> </a:t>
            </a:r>
            <a:r>
              <a:rPr lang="en-US" altLang="zh-CN" dirty="0" smtClean="0"/>
              <a:t>means</a:t>
            </a:r>
            <a:r>
              <a:rPr lang="zh-CN" altLang="en-US" dirty="0" smtClean="0"/>
              <a:t> </a:t>
            </a:r>
            <a:r>
              <a:rPr lang="en-US" altLang="zh-CN" dirty="0" smtClean="0"/>
              <a:t>the</a:t>
            </a:r>
            <a:r>
              <a:rPr lang="zh-CN" altLang="en-US" dirty="0" smtClean="0"/>
              <a:t> </a:t>
            </a:r>
            <a:r>
              <a:rPr lang="en-US" altLang="zh-CN" dirty="0" smtClean="0"/>
              <a:t>annual</a:t>
            </a:r>
            <a:r>
              <a:rPr lang="zh-CN" altLang="en-US" dirty="0" smtClean="0"/>
              <a:t> </a:t>
            </a:r>
            <a:r>
              <a:rPr lang="en-US" altLang="zh-CN" dirty="0" smtClean="0"/>
              <a:t>report</a:t>
            </a:r>
            <a:r>
              <a:rPr lang="zh-CN" altLang="en-US" dirty="0" smtClean="0"/>
              <a:t> </a:t>
            </a:r>
            <a:r>
              <a:rPr lang="en-US" altLang="zh-CN" dirty="0" smtClean="0"/>
              <a:t>is</a:t>
            </a:r>
            <a:r>
              <a:rPr lang="zh-CN" altLang="en-US" dirty="0" smtClean="0"/>
              <a:t> </a:t>
            </a:r>
            <a:r>
              <a:rPr lang="en-US" altLang="zh-CN" dirty="0" smtClean="0"/>
              <a:t>more</a:t>
            </a:r>
            <a:r>
              <a:rPr lang="zh-CN" altLang="en-US" baseline="0" dirty="0" smtClean="0"/>
              <a:t> </a:t>
            </a:r>
            <a:r>
              <a:rPr lang="en-US" altLang="zh-CN" baseline="0" dirty="0" smtClean="0"/>
              <a:t>focus</a:t>
            </a:r>
            <a:r>
              <a:rPr lang="zh-CN" altLang="en-US" baseline="0" dirty="0" smtClean="0"/>
              <a:t> </a:t>
            </a:r>
            <a:r>
              <a:rPr lang="en-US" altLang="zh-CN" baseline="0" dirty="0" smtClean="0"/>
              <a:t>on</a:t>
            </a:r>
            <a:r>
              <a:rPr lang="zh-CN" altLang="en-US" baseline="0" dirty="0" smtClean="0"/>
              <a:t> </a:t>
            </a:r>
            <a:r>
              <a:rPr lang="en-US" altLang="zh-CN" baseline="0" dirty="0" smtClean="0"/>
              <a:t>the</a:t>
            </a:r>
            <a:r>
              <a:rPr lang="zh-CN" altLang="en-US" baseline="0" dirty="0" smtClean="0"/>
              <a:t> </a:t>
            </a:r>
            <a:r>
              <a:rPr lang="en-US" altLang="zh-CN" baseline="0" dirty="0" smtClean="0"/>
              <a:t>financial,</a:t>
            </a:r>
            <a:r>
              <a:rPr lang="zh-CN" altLang="en-US" baseline="0" dirty="0" smtClean="0"/>
              <a:t> </a:t>
            </a:r>
            <a:r>
              <a:rPr lang="en-US" altLang="zh-CN" baseline="0" dirty="0" smtClean="0"/>
              <a:t>business</a:t>
            </a:r>
            <a:r>
              <a:rPr lang="zh-CN" altLang="en-US" baseline="0" dirty="0" smtClean="0"/>
              <a:t> </a:t>
            </a:r>
            <a:r>
              <a:rPr lang="en-US" altLang="zh-CN" baseline="0" dirty="0" smtClean="0"/>
              <a:t>segment</a:t>
            </a:r>
            <a:r>
              <a:rPr lang="zh-CN" altLang="en-US" baseline="0" dirty="0" smtClean="0"/>
              <a:t> </a:t>
            </a:r>
            <a:r>
              <a:rPr lang="en-US" altLang="zh-CN" baseline="0" dirty="0" smtClean="0"/>
              <a:t>and</a:t>
            </a:r>
            <a:r>
              <a:rPr lang="zh-CN" altLang="en-US" baseline="0" dirty="0" smtClean="0"/>
              <a:t> </a:t>
            </a:r>
            <a:r>
              <a:rPr lang="en-US" altLang="zh-CN" baseline="0" dirty="0" smtClean="0"/>
              <a:t>organization</a:t>
            </a:r>
            <a:r>
              <a:rPr lang="zh-CN" altLang="en-US" baseline="0" dirty="0" smtClean="0"/>
              <a:t> </a:t>
            </a:r>
            <a:r>
              <a:rPr lang="en-US" altLang="zh-CN" baseline="0" dirty="0" smtClean="0"/>
              <a:t>system.</a:t>
            </a:r>
            <a:r>
              <a:rPr lang="zh-CN" altLang="en-US" baseline="0" dirty="0" smtClean="0"/>
              <a:t> </a:t>
            </a:r>
            <a:r>
              <a:rPr lang="en-US" altLang="zh-CN" baseline="0" dirty="0" smtClean="0"/>
              <a:t>(Just</a:t>
            </a:r>
            <a:r>
              <a:rPr lang="zh-CN" altLang="en-US" baseline="0" dirty="0" smtClean="0"/>
              <a:t> </a:t>
            </a:r>
            <a:r>
              <a:rPr lang="en-US" altLang="zh-CN" baseline="0" dirty="0" smtClean="0"/>
              <a:t>like</a:t>
            </a:r>
            <a:r>
              <a:rPr lang="zh-CN" altLang="en-US" baseline="0" dirty="0" smtClean="0"/>
              <a:t> </a:t>
            </a:r>
            <a:r>
              <a:rPr lang="en-US" altLang="zh-CN" baseline="0" dirty="0" smtClean="0"/>
              <a:t>we</a:t>
            </a:r>
            <a:r>
              <a:rPr lang="zh-CN" altLang="en-US" baseline="0" dirty="0" smtClean="0"/>
              <a:t> </a:t>
            </a:r>
            <a:r>
              <a:rPr lang="en-US" altLang="zh-CN" baseline="0" dirty="0" smtClean="0"/>
              <a:t>mentioned</a:t>
            </a:r>
            <a:r>
              <a:rPr lang="zh-CN" altLang="en-US" baseline="0" dirty="0" smtClean="0"/>
              <a:t> </a:t>
            </a:r>
            <a:r>
              <a:rPr lang="en-US" altLang="zh-CN" baseline="0" dirty="0" smtClean="0"/>
              <a:t>in</a:t>
            </a:r>
            <a:r>
              <a:rPr lang="zh-CN" altLang="en-US" baseline="0" dirty="0" smtClean="0"/>
              <a:t> </a:t>
            </a:r>
            <a:r>
              <a:rPr lang="en-US" altLang="zh-CN" baseline="0" dirty="0" smtClean="0"/>
              <a:t>the</a:t>
            </a:r>
            <a:r>
              <a:rPr lang="zh-CN" altLang="en-US" baseline="0" dirty="0" smtClean="0"/>
              <a:t> </a:t>
            </a:r>
            <a:r>
              <a:rPr lang="en-US" altLang="zh-CN" baseline="0" dirty="0" smtClean="0"/>
              <a:t>previous</a:t>
            </a:r>
            <a:r>
              <a:rPr lang="zh-CN" altLang="en-US" baseline="0" dirty="0" smtClean="0"/>
              <a:t> </a:t>
            </a:r>
            <a:r>
              <a:rPr lang="en-US" altLang="zh-CN" baseline="0" dirty="0" smtClean="0"/>
              <a:t>pages)</a:t>
            </a:r>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5</a:t>
            </a:fld>
            <a:endParaRPr lang="en-US"/>
          </a:p>
        </p:txBody>
      </p:sp>
    </p:spTree>
    <p:extLst>
      <p:ext uri="{BB962C8B-B14F-4D97-AF65-F5344CB8AC3E}">
        <p14:creationId xmlns:p14="http://schemas.microsoft.com/office/powerpoint/2010/main" val="1686700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Strengths in the SWOT analysis of Dominos</a:t>
            </a:r>
          </a:p>
          <a:p>
            <a:r>
              <a:rPr lang="en-US" altLang="zh-CN" sz="1200" b="1" i="0" kern="1200" dirty="0" smtClean="0">
                <a:solidFill>
                  <a:schemeClr val="tx1"/>
                </a:solidFill>
                <a:effectLst/>
                <a:latin typeface="+mn-lt"/>
                <a:ea typeface="+mn-ea"/>
                <a:cs typeface="+mn-cs"/>
              </a:rPr>
              <a:t>Brand</a:t>
            </a:r>
            <a:r>
              <a:rPr lang="zh-CN" altLang="en-US" sz="1200" b="1" i="0" kern="1200" dirty="0" smtClean="0">
                <a:solidFill>
                  <a:schemeClr val="tx1"/>
                </a:solidFill>
                <a:effectLst/>
                <a:latin typeface="+mn-lt"/>
                <a:ea typeface="+mn-ea"/>
                <a:cs typeface="+mn-cs"/>
              </a:rPr>
              <a:t> </a:t>
            </a:r>
            <a:r>
              <a:rPr lang="en-US" altLang="zh-CN" sz="1200" b="1" i="0" kern="1200" dirty="0" smtClean="0">
                <a:solidFill>
                  <a:schemeClr val="tx1"/>
                </a:solidFill>
                <a:effectLst/>
                <a:latin typeface="+mn-lt"/>
                <a:ea typeface="+mn-ea"/>
                <a:cs typeface="+mn-cs"/>
              </a:rPr>
              <a:t>Recall</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High brand recall due to its regular advertising with taglines such as ‘30 minutes </a:t>
            </a:r>
            <a:r>
              <a:rPr lang="en-US" sz="1200" b="0" i="0" kern="1200" dirty="0" err="1" smtClean="0">
                <a:solidFill>
                  <a:schemeClr val="tx1"/>
                </a:solidFill>
                <a:effectLst/>
                <a:latin typeface="+mn-lt"/>
                <a:ea typeface="+mn-ea"/>
                <a:cs typeface="+mn-cs"/>
              </a:rPr>
              <a:t>nahi</a:t>
            </a:r>
            <a:r>
              <a:rPr lang="en-US" sz="1200" b="0" i="0" kern="1200" dirty="0" smtClean="0">
                <a:solidFill>
                  <a:schemeClr val="tx1"/>
                </a:solidFill>
                <a:effectLst/>
                <a:latin typeface="+mn-lt"/>
                <a:ea typeface="+mn-ea"/>
                <a:cs typeface="+mn-cs"/>
              </a:rPr>
              <a:t> to free’. Such aggressive marketing has created awareness &amp; a promise for the brand in the market.</a:t>
            </a:r>
          </a:p>
          <a:p>
            <a:r>
              <a:rPr lang="en-US" sz="1200" b="1" i="0" kern="1200" dirty="0" smtClean="0">
                <a:solidFill>
                  <a:schemeClr val="tx1"/>
                </a:solidFill>
                <a:effectLst/>
                <a:latin typeface="+mn-lt"/>
                <a:ea typeface="+mn-ea"/>
                <a:cs typeface="+mn-cs"/>
              </a:rPr>
              <a:t>Fantastic</a:t>
            </a:r>
            <a:r>
              <a:rPr lang="zh-CN" altLang="en-US" sz="1200" b="1" i="0" kern="1200" baseline="0" dirty="0" smtClean="0">
                <a:solidFill>
                  <a:schemeClr val="tx1"/>
                </a:solidFill>
                <a:effectLst/>
                <a:latin typeface="+mn-lt"/>
                <a:ea typeface="+mn-ea"/>
                <a:cs typeface="+mn-cs"/>
              </a:rPr>
              <a:t> </a:t>
            </a:r>
            <a:r>
              <a:rPr lang="en-US" altLang="zh-CN" sz="1200" b="1" i="0" kern="1200" baseline="0" dirty="0" smtClean="0">
                <a:solidFill>
                  <a:schemeClr val="tx1"/>
                </a:solidFill>
                <a:effectLst/>
                <a:latin typeface="+mn-lt"/>
                <a:ea typeface="+mn-ea"/>
                <a:cs typeface="+mn-cs"/>
              </a:rPr>
              <a:t>channel</a:t>
            </a:r>
            <a:r>
              <a:rPr lang="en-US" sz="1200" b="1" i="0" kern="1200" dirty="0" smtClean="0">
                <a:solidFill>
                  <a:schemeClr val="tx1"/>
                </a:solidFill>
                <a:effectLst/>
                <a:latin typeface="+mn-lt"/>
                <a:ea typeface="+mn-ea"/>
                <a:cs typeface="+mn-cs"/>
              </a:rPr>
              <a:t> network:</a:t>
            </a:r>
            <a:r>
              <a:rPr lang="en-US" sz="1200" b="0" i="0" kern="1200" dirty="0" smtClean="0">
                <a:solidFill>
                  <a:schemeClr val="tx1"/>
                </a:solidFill>
                <a:effectLst/>
                <a:latin typeface="+mn-lt"/>
                <a:ea typeface="+mn-ea"/>
                <a:cs typeface="+mn-cs"/>
              </a:rPr>
              <a:t> With its 9000 franchise &amp; company owned outlets Dominos has extensive network spread over more than 60 countries.</a:t>
            </a:r>
          </a:p>
          <a:p>
            <a:r>
              <a:rPr lang="en-US" sz="1200" b="1" i="0" kern="1200" dirty="0" smtClean="0">
                <a:solidFill>
                  <a:schemeClr val="tx1"/>
                </a:solidFill>
                <a:effectLst/>
                <a:latin typeface="+mn-lt"/>
                <a:ea typeface="+mn-ea"/>
                <a:cs typeface="+mn-cs"/>
              </a:rPr>
              <a:t>Quick service &amp; deep menu:</a:t>
            </a:r>
            <a:r>
              <a:rPr lang="en-US" sz="1200" b="0" i="0" kern="1200" dirty="0" smtClean="0">
                <a:solidFill>
                  <a:schemeClr val="tx1"/>
                </a:solidFill>
                <a:effectLst/>
                <a:latin typeface="+mn-lt"/>
                <a:ea typeface="+mn-ea"/>
                <a:cs typeface="+mn-cs"/>
              </a:rPr>
              <a:t> Quicker than expected service delights the consumers and helps the company to</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differentiate</a:t>
            </a:r>
            <a:r>
              <a:rPr lang="en-US" sz="1200" b="0" i="0" kern="1200" dirty="0" smtClean="0">
                <a:solidFill>
                  <a:schemeClr val="tx1"/>
                </a:solidFill>
                <a:effectLst/>
                <a:latin typeface="+mn-lt"/>
                <a:ea typeface="+mn-ea"/>
                <a:cs typeface="+mn-cs"/>
              </a:rPr>
              <a:t> itself from others. In India Domino’s is trying to attract the middle class and lower middle class</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people</a:t>
            </a:r>
            <a:r>
              <a:rPr lang="zh-CN" alt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who are interested to spend their money on pizza but in low price. Those people are eager to go for an outing in any festival and want cheap and best family restaurant. Domino’s would be most preferable.</a:t>
            </a:r>
          </a:p>
          <a:p>
            <a:r>
              <a:rPr lang="en-US" sz="1200" b="1" i="0" kern="1200" dirty="0" smtClean="0">
                <a:solidFill>
                  <a:schemeClr val="tx1"/>
                </a:solidFill>
                <a:effectLst/>
                <a:latin typeface="+mn-lt"/>
                <a:ea typeface="+mn-ea"/>
                <a:cs typeface="+mn-cs"/>
              </a:rPr>
              <a:t>Low cost alternative:</a:t>
            </a:r>
            <a:r>
              <a:rPr lang="en-US" sz="1200" b="0" i="0" kern="1200" dirty="0" smtClean="0">
                <a:solidFill>
                  <a:schemeClr val="tx1"/>
                </a:solidFill>
                <a:effectLst/>
                <a:latin typeface="+mn-lt"/>
                <a:ea typeface="+mn-ea"/>
                <a:cs typeface="+mn-cs"/>
              </a:rPr>
              <a:t> They do not need high class Ambiance or amusement in the shop so the establishment cost is low for the</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dealers</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and</a:t>
            </a:r>
            <a:r>
              <a:rPr lang="zh-CN" alt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the price of pizza is very reasonable for the customers.</a:t>
            </a:r>
          </a:p>
          <a:p>
            <a:r>
              <a:rPr lang="en-US" sz="1200" b="1" i="0" kern="1200" dirty="0" smtClean="0">
                <a:solidFill>
                  <a:schemeClr val="tx1"/>
                </a:solidFill>
                <a:effectLst/>
                <a:latin typeface="+mn-lt"/>
                <a:ea typeface="+mn-ea"/>
                <a:cs typeface="+mn-cs"/>
              </a:rPr>
              <a:t>Healthier alternatives:</a:t>
            </a:r>
            <a:r>
              <a:rPr lang="en-US" sz="1200" b="0" i="0" kern="1200" dirty="0" smtClean="0">
                <a:solidFill>
                  <a:schemeClr val="tx1"/>
                </a:solidFill>
                <a:effectLst/>
                <a:latin typeface="+mn-lt"/>
                <a:ea typeface="+mn-ea"/>
                <a:cs typeface="+mn-cs"/>
              </a:rPr>
              <a:t> To combat health awareness among consumers, Dominos is trying to change their dough by having healthier fats, which is done by incorporating more whole wheat into their crusts. The pizza toppings are also becoming healthier, and some pizzerias are introducing salads into their menus.</a:t>
            </a:r>
          </a:p>
          <a:p>
            <a:r>
              <a:rPr lang="en-US" sz="1200" b="1" i="0" kern="1200" dirty="0" smtClean="0">
                <a:solidFill>
                  <a:schemeClr val="tx1"/>
                </a:solidFill>
                <a:effectLst/>
                <a:latin typeface="+mn-lt"/>
                <a:ea typeface="+mn-ea"/>
                <a:cs typeface="+mn-cs"/>
              </a:rPr>
              <a:t>Efficient</a:t>
            </a:r>
            <a:r>
              <a:rPr lang="zh-CN" altLang="en-US" sz="1200" b="1" i="0" kern="1200" baseline="0" dirty="0" smtClean="0">
                <a:solidFill>
                  <a:schemeClr val="tx1"/>
                </a:solidFill>
                <a:effectLst/>
                <a:latin typeface="+mn-lt"/>
                <a:ea typeface="+mn-ea"/>
                <a:cs typeface="+mn-cs"/>
              </a:rPr>
              <a:t> </a:t>
            </a:r>
            <a:r>
              <a:rPr lang="en-US" altLang="zh-CN" sz="1200" b="1" i="0" kern="1200" baseline="0" dirty="0" smtClean="0">
                <a:solidFill>
                  <a:schemeClr val="tx1"/>
                </a:solidFill>
                <a:effectLst/>
                <a:latin typeface="+mn-lt"/>
                <a:ea typeface="+mn-ea"/>
                <a:cs typeface="+mn-cs"/>
              </a:rPr>
              <a:t>supply</a:t>
            </a:r>
            <a:r>
              <a:rPr lang="en-US" sz="1200" b="1" i="0" kern="1200" dirty="0" smtClean="0">
                <a:solidFill>
                  <a:schemeClr val="tx1"/>
                </a:solidFill>
                <a:effectLst/>
                <a:latin typeface="+mn-lt"/>
                <a:ea typeface="+mn-ea"/>
                <a:cs typeface="+mn-cs"/>
              </a:rPr>
              <a:t> chain:</a:t>
            </a:r>
            <a:r>
              <a:rPr lang="en-US" sz="1200" b="0" i="0" kern="1200" dirty="0" smtClean="0">
                <a:solidFill>
                  <a:schemeClr val="tx1"/>
                </a:solidFill>
                <a:effectLst/>
                <a:latin typeface="+mn-lt"/>
                <a:ea typeface="+mn-ea"/>
                <a:cs typeface="+mn-cs"/>
              </a:rPr>
              <a:t> Due to its efficient supply chain Dominos has made it possible for quicker service so that customers don’t have to wait for long. The preference of Dominos is because the customer can have home delivery within 30 minutes. Making a small breakfast at home itself takes 15 minutes.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Opportunities in the SWOT analysis of Dominos</a:t>
            </a:r>
          </a:p>
          <a:p>
            <a:r>
              <a:rPr lang="en-US" altLang="zh-CN" sz="1200" b="1" i="0" kern="1200" dirty="0" smtClean="0">
                <a:solidFill>
                  <a:schemeClr val="tx1"/>
                </a:solidFill>
                <a:effectLst/>
                <a:latin typeface="+mn-lt"/>
                <a:ea typeface="+mn-ea"/>
                <a:cs typeface="+mn-cs"/>
              </a:rPr>
              <a:t>Market</a:t>
            </a:r>
            <a:r>
              <a:rPr lang="zh-CN" altLang="en-US" sz="1200" b="1" i="0" kern="1200" dirty="0" smtClean="0">
                <a:solidFill>
                  <a:schemeClr val="tx1"/>
                </a:solidFill>
                <a:effectLst/>
                <a:latin typeface="+mn-lt"/>
                <a:ea typeface="+mn-ea"/>
                <a:cs typeface="+mn-cs"/>
              </a:rPr>
              <a:t> </a:t>
            </a:r>
            <a:r>
              <a:rPr lang="en-US" altLang="zh-CN" sz="1200" b="1" i="0" kern="1200" dirty="0" smtClean="0">
                <a:solidFill>
                  <a:schemeClr val="tx1"/>
                </a:solidFill>
                <a:effectLst/>
                <a:latin typeface="+mn-lt"/>
                <a:ea typeface="+mn-ea"/>
                <a:cs typeface="+mn-cs"/>
              </a:rPr>
              <a:t>Expansion</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Expanding to the developing markets will be beneficial as far as Pizza industry is concerned, as developed markets are maturing.</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Targeting</a:t>
            </a:r>
            <a:r>
              <a:rPr lang="en-US" sz="1200" b="0" i="0" kern="1200" dirty="0" smtClean="0">
                <a:solidFill>
                  <a:schemeClr val="tx1"/>
                </a:solidFill>
                <a:effectLst/>
                <a:latin typeface="+mn-lt"/>
                <a:ea typeface="+mn-ea"/>
                <a:cs typeface="+mn-cs"/>
              </a:rPr>
              <a:t> the developing economies should be the future</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strategy</a:t>
            </a:r>
            <a:r>
              <a:rPr lang="en-US" sz="1200" b="0" i="0" kern="1200" dirty="0" smtClean="0">
                <a:solidFill>
                  <a:schemeClr val="tx1"/>
                </a:solidFill>
                <a:effectLst/>
                <a:latin typeface="+mn-lt"/>
                <a:ea typeface="+mn-ea"/>
                <a:cs typeface="+mn-cs"/>
              </a:rPr>
              <a:t> of the company.</a:t>
            </a:r>
          </a:p>
          <a:p>
            <a:r>
              <a:rPr lang="en-US" sz="1200" b="1" i="0" kern="1200" dirty="0" smtClean="0">
                <a:solidFill>
                  <a:schemeClr val="tx1"/>
                </a:solidFill>
                <a:effectLst/>
                <a:latin typeface="+mn-lt"/>
                <a:ea typeface="+mn-ea"/>
                <a:cs typeface="+mn-cs"/>
              </a:rPr>
              <a:t>Penetration:</a:t>
            </a:r>
            <a:r>
              <a:rPr lang="en-US" sz="1200" b="0" i="0" kern="1200" dirty="0" smtClean="0">
                <a:solidFill>
                  <a:schemeClr val="tx1"/>
                </a:solidFill>
                <a:effectLst/>
                <a:latin typeface="+mn-lt"/>
                <a:ea typeface="+mn-ea"/>
                <a:cs typeface="+mn-cs"/>
              </a:rPr>
              <a:t> Strengthening its outlet network by further penetrating the current market will help Dominos to increase its revenues.</a:t>
            </a:r>
          </a:p>
          <a:p>
            <a:r>
              <a:rPr lang="en-US" sz="1200" b="1" i="0" kern="1200" dirty="0" smtClean="0">
                <a:solidFill>
                  <a:schemeClr val="tx1"/>
                </a:solidFill>
                <a:effectLst/>
                <a:latin typeface="+mn-lt"/>
                <a:ea typeface="+mn-ea"/>
                <a:cs typeface="+mn-cs"/>
              </a:rPr>
              <a:t>Health conscious eatables:</a:t>
            </a:r>
            <a:r>
              <a:rPr lang="zh-CN" alt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Introducing health conscious menu with new flavor additives which is low in fat will result in increasing it revenues in future.</a:t>
            </a:r>
          </a:p>
          <a:p>
            <a:r>
              <a:rPr lang="en-US" sz="1200" b="1" i="0" kern="1200" dirty="0" smtClean="0">
                <a:solidFill>
                  <a:schemeClr val="tx1"/>
                </a:solidFill>
                <a:effectLst/>
                <a:latin typeface="+mn-lt"/>
                <a:ea typeface="+mn-ea"/>
                <a:cs typeface="+mn-cs"/>
              </a:rPr>
              <a:t>Restaurants:</a:t>
            </a:r>
            <a:r>
              <a:rPr lang="en-US" sz="1200" b="0" i="0" kern="1200" dirty="0" smtClean="0">
                <a:solidFill>
                  <a:schemeClr val="tx1"/>
                </a:solidFill>
                <a:effectLst/>
                <a:latin typeface="+mn-lt"/>
                <a:ea typeface="+mn-ea"/>
                <a:cs typeface="+mn-cs"/>
              </a:rPr>
              <a:t> By introducing exclusive Dominos restaurants in cream areas will help the brand with more brand recognition and will also help in getting the customers who like to eat outside in plush restaurants.</a:t>
            </a: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effectLst/>
                <a:latin typeface="+mn-lt"/>
                <a:ea typeface="+mn-ea"/>
                <a:cs typeface="+mn-cs"/>
              </a:rPr>
              <a:t>Reference:</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Hitesh</a:t>
            </a:r>
            <a:r>
              <a:rPr lang="zh-CN" altLang="en-US" sz="1200" b="0" i="0" kern="1200" dirty="0" smtClean="0">
                <a:solidFill>
                  <a:schemeClr val="tx1"/>
                </a:solidFill>
                <a:effectLst/>
                <a:latin typeface="+mn-lt"/>
                <a:ea typeface="+mn-ea"/>
                <a:cs typeface="+mn-cs"/>
              </a:rPr>
              <a:t> </a:t>
            </a:r>
            <a:r>
              <a:rPr lang="en-US" altLang="zh-CN" sz="1200" b="0" i="0" kern="1200" dirty="0" err="1" smtClean="0">
                <a:solidFill>
                  <a:schemeClr val="tx1"/>
                </a:solidFill>
                <a:effectLst/>
                <a:latin typeface="+mn-lt"/>
                <a:ea typeface="+mn-ea"/>
                <a:cs typeface="+mn-cs"/>
              </a:rPr>
              <a:t>Bhasin</a:t>
            </a:r>
            <a:r>
              <a:rPr lang="zh-CN" altLang="en-US" sz="1200" b="0" i="0" kern="120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(2016).</a:t>
            </a:r>
            <a:r>
              <a:rPr lang="zh-CN" alt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Dominos SWOT analysis – SWOT analysis of Dominos</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Retrieved</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from:</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https://www.marketing91.com/</a:t>
            </a:r>
            <a:r>
              <a:rPr lang="en-US" altLang="zh-CN" sz="1200" b="0" i="0" kern="1200" dirty="0" err="1" smtClean="0">
                <a:solidFill>
                  <a:schemeClr val="tx1"/>
                </a:solidFill>
                <a:effectLst/>
                <a:latin typeface="+mn-lt"/>
                <a:ea typeface="+mn-ea"/>
                <a:cs typeface="+mn-cs"/>
              </a:rPr>
              <a:t>swot</a:t>
            </a:r>
            <a:r>
              <a:rPr lang="en-US" altLang="zh-CN" sz="1200" b="0" i="0" kern="1200" dirty="0" smtClean="0">
                <a:solidFill>
                  <a:schemeClr val="tx1"/>
                </a:solidFill>
                <a:effectLst/>
                <a:latin typeface="+mn-lt"/>
                <a:ea typeface="+mn-ea"/>
                <a:cs typeface="+mn-cs"/>
              </a:rPr>
              <a:t>-analysis-of-dominos/</a:t>
            </a:r>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35DE431-E345-8D41-B5F0-724494DBB331}" type="slidenum">
              <a:rPr lang="en-US" smtClean="0"/>
              <a:t>6</a:t>
            </a:fld>
            <a:endParaRPr lang="en-US"/>
          </a:p>
        </p:txBody>
      </p:sp>
    </p:spTree>
    <p:extLst>
      <p:ext uri="{BB962C8B-B14F-4D97-AF65-F5344CB8AC3E}">
        <p14:creationId xmlns:p14="http://schemas.microsoft.com/office/powerpoint/2010/main" val="978685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Weaknesses in the SWOT analysis of Dominos</a:t>
            </a:r>
          </a:p>
          <a:p>
            <a:r>
              <a:rPr lang="en-US" altLang="zh-CN" sz="1200" b="1" i="0" kern="1200" dirty="0" smtClean="0">
                <a:solidFill>
                  <a:schemeClr val="tx1"/>
                </a:solidFill>
                <a:effectLst/>
                <a:latin typeface="+mn-lt"/>
                <a:ea typeface="+mn-ea"/>
                <a:cs typeface="+mn-cs"/>
              </a:rPr>
              <a:t>Operations</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Large number of franchised outlets results in difficulty in handling operations. Quality control too becomes challenging. Due to this, some of the Dominos outlets got closed affecting the</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image</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of</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the</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brand</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Decreasing sales in mature</a:t>
            </a:r>
            <a:r>
              <a:rPr lang="zh-CN" altLang="en-US" sz="1200" b="1" i="0" kern="1200" baseline="0" dirty="0" smtClean="0">
                <a:solidFill>
                  <a:schemeClr val="tx1"/>
                </a:solidFill>
                <a:effectLst/>
                <a:latin typeface="+mn-lt"/>
                <a:ea typeface="+mn-ea"/>
                <a:cs typeface="+mn-cs"/>
              </a:rPr>
              <a:t> </a:t>
            </a:r>
            <a:r>
              <a:rPr lang="en-US" altLang="zh-CN" sz="1200" b="1" i="0" kern="1200" baseline="0" dirty="0" smtClean="0">
                <a:solidFill>
                  <a:schemeClr val="tx1"/>
                </a:solidFill>
                <a:effectLst/>
                <a:latin typeface="+mn-lt"/>
                <a:ea typeface="+mn-ea"/>
                <a:cs typeface="+mn-cs"/>
              </a:rPr>
              <a:t>mature</a:t>
            </a:r>
            <a:r>
              <a:rPr lang="en-US" sz="1200" b="1"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Due to rise in health conscious population there is decrease in revenue affecting the business as a whole.</a:t>
            </a:r>
          </a:p>
          <a:p>
            <a:r>
              <a:rPr lang="en-US" sz="1200" b="1" i="0" kern="1200" dirty="0" smtClean="0">
                <a:solidFill>
                  <a:schemeClr val="tx1"/>
                </a:solidFill>
                <a:effectLst/>
                <a:latin typeface="+mn-lt"/>
                <a:ea typeface="+mn-ea"/>
                <a:cs typeface="+mn-cs"/>
              </a:rPr>
              <a:t>Low staff retention:</a:t>
            </a:r>
            <a:r>
              <a:rPr lang="en-US" sz="1200" b="0" i="0" kern="1200" dirty="0" smtClean="0">
                <a:solidFill>
                  <a:schemeClr val="tx1"/>
                </a:solidFill>
                <a:effectLst/>
                <a:latin typeface="+mn-lt"/>
                <a:ea typeface="+mn-ea"/>
                <a:cs typeface="+mn-cs"/>
              </a:rPr>
              <a:t> High attrition due to the absence of proper training &amp;</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development</a:t>
            </a:r>
            <a:r>
              <a:rPr lang="en-US" sz="1200" b="0" i="0" kern="1200" dirty="0" smtClean="0">
                <a:solidFill>
                  <a:schemeClr val="tx1"/>
                </a:solidFill>
                <a:effectLst/>
                <a:latin typeface="+mn-lt"/>
                <a:ea typeface="+mn-ea"/>
                <a:cs typeface="+mn-cs"/>
              </a:rPr>
              <a:t> is a major challenge for Dominos. Plus the manpower employed is also unskilled so they quickly change jobs when they cannot adjust to the hectic</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environment</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Lesser number of eateries:</a:t>
            </a:r>
            <a:r>
              <a:rPr lang="en-US" sz="1200" b="0" i="0" kern="1200" dirty="0" smtClean="0">
                <a:solidFill>
                  <a:schemeClr val="tx1"/>
                </a:solidFill>
                <a:effectLst/>
                <a:latin typeface="+mn-lt"/>
                <a:ea typeface="+mn-ea"/>
                <a:cs typeface="+mn-cs"/>
              </a:rPr>
              <a:t> Dominos has more delivery outlets then eating joints which is a problem especially in places like malls and other locations where clearly customers want a sitting place.</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Threats in the SWOT analysis of Dominos</a:t>
            </a:r>
          </a:p>
          <a:p>
            <a:r>
              <a:rPr lang="en-US" sz="1200" b="1" i="0" kern="1200" dirty="0" smtClean="0">
                <a:solidFill>
                  <a:schemeClr val="tx1"/>
                </a:solidFill>
                <a:effectLst/>
                <a:latin typeface="+mn-lt"/>
                <a:ea typeface="+mn-ea"/>
                <a:cs typeface="+mn-cs"/>
              </a:rPr>
              <a:t>Direct and Indirect Competition:</a:t>
            </a:r>
            <a:r>
              <a:rPr lang="zh-CN" altLang="en-US" sz="1200" b="1"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Intensive</a:t>
            </a:r>
            <a:r>
              <a:rPr lang="zh-CN" alt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competition from the local &amp; national players like “Pizza hut”, US pizza and more. In fact, Indirect competition is more from the likes of McDonalds and KFC wherein customers prefer burgers over pizza.</a:t>
            </a:r>
          </a:p>
          <a:p>
            <a:r>
              <a:rPr lang="en-US" sz="1200" b="1" i="0" kern="1200" dirty="0" smtClean="0">
                <a:solidFill>
                  <a:schemeClr val="tx1"/>
                </a:solidFill>
                <a:effectLst/>
                <a:latin typeface="+mn-lt"/>
                <a:ea typeface="+mn-ea"/>
                <a:cs typeface="+mn-cs"/>
              </a:rPr>
              <a:t>Changing Consumer Eating habits:</a:t>
            </a:r>
            <a:r>
              <a:rPr lang="zh-CN" alt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With government &amp; NGO’s concentrating more on health awareness, people are becoming more aware of what to consume &amp; what to avoid which is affecting the business of Dominos.</a:t>
            </a:r>
          </a:p>
          <a:p>
            <a:r>
              <a:rPr lang="en-US" sz="1200" b="1" i="0" kern="1200" dirty="0" smtClean="0">
                <a:solidFill>
                  <a:schemeClr val="tx1"/>
                </a:solidFill>
                <a:effectLst/>
                <a:latin typeface="+mn-lt"/>
                <a:ea typeface="+mn-ea"/>
                <a:cs typeface="+mn-cs"/>
              </a:rPr>
              <a:t>Cost:</a:t>
            </a:r>
            <a:r>
              <a:rPr lang="en-US" sz="1200" b="0" i="0" kern="1200" dirty="0" smtClean="0">
                <a:solidFill>
                  <a:schemeClr val="tx1"/>
                </a:solidFill>
                <a:effectLst/>
                <a:latin typeface="+mn-lt"/>
                <a:ea typeface="+mn-ea"/>
                <a:cs typeface="+mn-cs"/>
              </a:rPr>
              <a:t> As the cost of vegetables and raw materials rises, the cost of maintaining the pizza chain also goes up. Plus, competition affects the bottom line of the company. Thus managing the cash flow becomes difficult.</a:t>
            </a: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effectLst/>
                <a:latin typeface="+mn-lt"/>
                <a:ea typeface="+mn-ea"/>
                <a:cs typeface="+mn-cs"/>
              </a:rPr>
              <a:t>Reference:</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Hitesh</a:t>
            </a:r>
            <a:r>
              <a:rPr lang="zh-CN" altLang="en-US" sz="1200" b="0" i="0" kern="1200" dirty="0" smtClean="0">
                <a:solidFill>
                  <a:schemeClr val="tx1"/>
                </a:solidFill>
                <a:effectLst/>
                <a:latin typeface="+mn-lt"/>
                <a:ea typeface="+mn-ea"/>
                <a:cs typeface="+mn-cs"/>
              </a:rPr>
              <a:t> </a:t>
            </a:r>
            <a:r>
              <a:rPr lang="en-US" altLang="zh-CN" sz="1200" b="0" i="0" kern="1200" dirty="0" err="1" smtClean="0">
                <a:solidFill>
                  <a:schemeClr val="tx1"/>
                </a:solidFill>
                <a:effectLst/>
                <a:latin typeface="+mn-lt"/>
                <a:ea typeface="+mn-ea"/>
                <a:cs typeface="+mn-cs"/>
              </a:rPr>
              <a:t>Bhasin</a:t>
            </a:r>
            <a:r>
              <a:rPr lang="zh-CN" altLang="en-US" sz="1200" b="0" i="0" kern="120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(2016).</a:t>
            </a:r>
            <a:r>
              <a:rPr lang="zh-CN" alt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Dominos SWOT analysis – SWOT analysis of Dominos</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Retrieved</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from:</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https://www.marketing91.com/</a:t>
            </a:r>
            <a:r>
              <a:rPr lang="en-US" altLang="zh-CN" sz="1200" b="0" i="0" kern="1200" dirty="0" err="1" smtClean="0">
                <a:solidFill>
                  <a:schemeClr val="tx1"/>
                </a:solidFill>
                <a:effectLst/>
                <a:latin typeface="+mn-lt"/>
                <a:ea typeface="+mn-ea"/>
                <a:cs typeface="+mn-cs"/>
              </a:rPr>
              <a:t>swot</a:t>
            </a:r>
            <a:r>
              <a:rPr lang="en-US" altLang="zh-CN" sz="1200" b="0" i="0" kern="1200" dirty="0" smtClean="0">
                <a:solidFill>
                  <a:schemeClr val="tx1"/>
                </a:solidFill>
                <a:effectLst/>
                <a:latin typeface="+mn-lt"/>
                <a:ea typeface="+mn-ea"/>
                <a:cs typeface="+mn-cs"/>
              </a:rPr>
              <a:t>-analysis-of-dominos/</a:t>
            </a:r>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35DE431-E345-8D41-B5F0-724494DBB331}" type="slidenum">
              <a:rPr lang="en-US" smtClean="0"/>
              <a:t>7</a:t>
            </a:fld>
            <a:endParaRPr lang="en-US"/>
          </a:p>
        </p:txBody>
      </p:sp>
    </p:spTree>
    <p:extLst>
      <p:ext uri="{BB962C8B-B14F-4D97-AF65-F5344CB8AC3E}">
        <p14:creationId xmlns:p14="http://schemas.microsoft.com/office/powerpoint/2010/main" val="1492369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the comparison between Domino’s domestic stores and Papa John’s domestic stores.</a:t>
            </a:r>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8</a:t>
            </a:fld>
            <a:endParaRPr lang="en-US"/>
          </a:p>
        </p:txBody>
      </p:sp>
    </p:spTree>
    <p:extLst>
      <p:ext uri="{BB962C8B-B14F-4D97-AF65-F5344CB8AC3E}">
        <p14:creationId xmlns:p14="http://schemas.microsoft.com/office/powerpoint/2010/main" val="699710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is the comparison between Domino’s international</a:t>
            </a:r>
            <a:r>
              <a:rPr lang="en-US" baseline="0" dirty="0" smtClean="0"/>
              <a:t> </a:t>
            </a:r>
            <a:r>
              <a:rPr lang="en-US" dirty="0" smtClean="0"/>
              <a:t>stores and Papa John’s international stores.</a:t>
            </a:r>
          </a:p>
          <a:p>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9</a:t>
            </a:fld>
            <a:endParaRPr lang="en-US"/>
          </a:p>
        </p:txBody>
      </p:sp>
    </p:spTree>
    <p:extLst>
      <p:ext uri="{BB962C8B-B14F-4D97-AF65-F5344CB8AC3E}">
        <p14:creationId xmlns:p14="http://schemas.microsoft.com/office/powerpoint/2010/main" val="701509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Wingdings" charset="2"/>
              <a:buChar char="Ø"/>
            </a:pPr>
            <a:r>
              <a:rPr lang="en-US" dirty="0" smtClean="0"/>
              <a:t>Based on the regression graph, Franchise stores does</a:t>
            </a:r>
            <a:r>
              <a:rPr lang="en-US" baseline="0" dirty="0" smtClean="0"/>
              <a:t> less affect on total domestic revenues</a:t>
            </a:r>
          </a:p>
          <a:p>
            <a:pPr marL="228600" indent="-228600">
              <a:buFont typeface="Wingdings" charset="2"/>
              <a:buChar char="Ø"/>
            </a:pPr>
            <a:r>
              <a:rPr lang="en-US" baseline="0" dirty="0" smtClean="0"/>
              <a:t>More number of both kinds of stores means more revenue.</a:t>
            </a:r>
          </a:p>
          <a:p>
            <a:pPr marL="228600" indent="-228600">
              <a:buFont typeface="Wingdings" charset="2"/>
              <a:buChar char="Ø"/>
            </a:pPr>
            <a:r>
              <a:rPr lang="en-US" baseline="0" dirty="0" smtClean="0"/>
              <a:t>However, franchise stores are more affect.</a:t>
            </a:r>
          </a:p>
          <a:p>
            <a:pPr marL="228600" indent="-228600">
              <a:buAutoNum type="arabicParenR"/>
            </a:pPr>
            <a:r>
              <a:rPr lang="en-US" dirty="0" smtClean="0"/>
              <a:t>Y=2.355*X – 540.445 (Company-owned stores)</a:t>
            </a:r>
          </a:p>
          <a:p>
            <a:pPr marL="228600" indent="-228600">
              <a:buAutoNum type="arabicParenR"/>
            </a:pPr>
            <a:r>
              <a:rPr lang="en-US" dirty="0" smtClean="0"/>
              <a:t>Y=0.269*X – 1026.328 (Franchise stores)</a:t>
            </a:r>
          </a:p>
          <a:p>
            <a:pPr marL="228600" indent="-228600">
              <a:buFont typeface="Wingdings" charset="2"/>
              <a:buChar char="Ø"/>
            </a:pPr>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10</a:t>
            </a:fld>
            <a:endParaRPr lang="en-US"/>
          </a:p>
        </p:txBody>
      </p:sp>
    </p:spTree>
    <p:extLst>
      <p:ext uri="{BB962C8B-B14F-4D97-AF65-F5344CB8AC3E}">
        <p14:creationId xmlns:p14="http://schemas.microsoft.com/office/powerpoint/2010/main" val="41195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charset="2"/>
              <a:buChar char="Ø"/>
            </a:pPr>
            <a:r>
              <a:rPr lang="en-US" dirty="0" smtClean="0"/>
              <a:t>The residual standard</a:t>
            </a:r>
            <a:r>
              <a:rPr lang="en-US" baseline="0" dirty="0" smtClean="0"/>
              <a:t> error is 5.183 on 3 degrees of freedom. The multiple R-squared is 0.9614</a:t>
            </a:r>
          </a:p>
          <a:p>
            <a:pPr marL="171450" indent="-171450">
              <a:buFont typeface="Wingdings" charset="2"/>
              <a:buChar char="Ø"/>
            </a:pPr>
            <a:r>
              <a:rPr lang="en-US" baseline="0" dirty="0" smtClean="0"/>
              <a:t>These data means this model could predict the revenue directly. (but still not able to predict perfectly)</a:t>
            </a:r>
            <a:endParaRPr lang="en-US" dirty="0" smtClean="0"/>
          </a:p>
          <a:p>
            <a:pPr marL="171450" indent="-171450">
              <a:buFont typeface="Wingdings" charset="2"/>
              <a:buChar char="Ø"/>
            </a:pPr>
            <a:r>
              <a:rPr lang="en-US" dirty="0" smtClean="0"/>
              <a:t>More international franchise stores bring more revenues</a:t>
            </a:r>
          </a:p>
          <a:p>
            <a:r>
              <a:rPr lang="en-US" dirty="0" smtClean="0"/>
              <a:t>Y=</a:t>
            </a:r>
            <a:r>
              <a:rPr lang="nb-NO" dirty="0" smtClean="0"/>
              <a:t>0.01839 *</a:t>
            </a:r>
            <a:r>
              <a:rPr lang="nb-NO" dirty="0" err="1" smtClean="0"/>
              <a:t>X</a:t>
            </a:r>
            <a:r>
              <a:rPr lang="nb-NO" dirty="0" smtClean="0"/>
              <a:t>+</a:t>
            </a:r>
            <a:r>
              <a:rPr lang="is-IS" dirty="0" smtClean="0"/>
              <a:t>26.00919</a:t>
            </a:r>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11</a:t>
            </a:fld>
            <a:endParaRPr lang="en-US"/>
          </a:p>
        </p:txBody>
      </p:sp>
    </p:spTree>
    <p:extLst>
      <p:ext uri="{BB962C8B-B14F-4D97-AF65-F5344CB8AC3E}">
        <p14:creationId xmlns:p14="http://schemas.microsoft.com/office/powerpoint/2010/main" val="652981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16</a:t>
            </a:fld>
            <a:endParaRPr lang="en-US"/>
          </a:p>
        </p:txBody>
      </p:sp>
    </p:spTree>
    <p:extLst>
      <p:ext uri="{BB962C8B-B14F-4D97-AF65-F5344CB8AC3E}">
        <p14:creationId xmlns:p14="http://schemas.microsoft.com/office/powerpoint/2010/main" val="395337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C26B6985-BD28-ED4B-9B18-DBEFAEF19F1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0B2975D-6EF2-6A4C-ACBF-7422C0522B20}" type="datetimeFigureOut">
              <a:rPr lang="en-US" smtClean="0"/>
              <a:t>11/2/17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0B2975D-6EF2-6A4C-ACBF-7422C0522B20}" type="datetimeFigureOut">
              <a:rPr lang="en-US" smtClean="0"/>
              <a:t>11/2/17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0B2975D-6EF2-6A4C-ACBF-7422C0522B20}" type="datetimeFigureOut">
              <a:rPr lang="en-US" smtClean="0"/>
              <a:t>11/2/17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B2975D-6EF2-6A4C-ACBF-7422C0522B20}" type="datetimeFigureOut">
              <a:rPr lang="en-US" smtClean="0"/>
              <a:t>11/2/17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0B2975D-6EF2-6A4C-ACBF-7422C0522B20}" type="datetimeFigureOut">
              <a:rPr lang="en-US" smtClean="0"/>
              <a:t>11/2/17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0B2975D-6EF2-6A4C-ACBF-7422C0522B20}" type="datetimeFigureOut">
              <a:rPr lang="en-US" smtClean="0"/>
              <a:t>11/2/17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0B2975D-6EF2-6A4C-ACBF-7422C0522B20}" type="datetimeFigureOut">
              <a:rPr lang="en-US" smtClean="0"/>
              <a:t>11/2/17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0B2975D-6EF2-6A4C-ACBF-7422C0522B20}" type="datetimeFigureOut">
              <a:rPr lang="en-US" smtClean="0"/>
              <a:t>11/2/17</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26B6985-BD28-ED4B-9B18-DBEFAEF19F15}" type="slidenum">
              <a:rPr lang="en-US" smtClean="0"/>
              <a:t>‹#›</a:t>
            </a:fld>
            <a:endParaRPr lang="en-US"/>
          </a:p>
        </p:txBody>
      </p:sp>
    </p:spTree>
    <p:extLst>
      <p:ext uri="{BB962C8B-B14F-4D97-AF65-F5344CB8AC3E}">
        <p14:creationId xmlns:p14="http://schemas.microsoft.com/office/powerpoint/2010/main" val="1877358910"/>
      </p:ext>
    </p:extLst>
  </p:cSld>
  <p:clrMap bg1="lt1" tx1="dk1" bg2="lt2" tx2="dk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 id="2147483903" r:id="rId5"/>
    <p:sldLayoutId id="2147483904" r:id="rId6"/>
    <p:sldLayoutId id="2147483905" r:id="rId7"/>
    <p:sldLayoutId id="2147483906" r:id="rId8"/>
    <p:sldLayoutId id="2147483907" r:id="rId9"/>
    <p:sldLayoutId id="2147483908" r:id="rId10"/>
    <p:sldLayoutId id="2147483909" r:id="rId11"/>
    <p:sldLayoutId id="2147483910" r:id="rId12"/>
    <p:sldLayoutId id="2147483911" r:id="rId13"/>
    <p:sldLayoutId id="2147483912" r:id="rId14"/>
    <p:sldLayoutId id="2147483913" r:id="rId15"/>
    <p:sldLayoutId id="2147483914" r:id="rId16"/>
    <p:sldLayoutId id="214748391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chart" Target="../charts/chart2.xml"/><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4" Type="http://schemas.openxmlformats.org/officeDocument/2006/relationships/chart" Target="../charts/chart4.xml"/><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www.referenceforbusiness.com/history2/60/Domino-s-Pizza-Inc.html#ixzz4wtSrDJt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378226" y="3983683"/>
            <a:ext cx="9435548" cy="990368"/>
          </a:xfrm>
          <a:gradFill flip="none" rotWithShape="1">
            <a:gsLst>
              <a:gs pos="100000">
                <a:schemeClr val="accent1">
                  <a:lumMod val="61000"/>
                  <a:lumOff val="39000"/>
                  <a:alpha val="27000"/>
                </a:schemeClr>
              </a:gs>
              <a:gs pos="100000">
                <a:schemeClr val="accent1">
                  <a:lumMod val="97000"/>
                  <a:lumOff val="3000"/>
                </a:schemeClr>
              </a:gs>
              <a:gs pos="100000">
                <a:schemeClr val="accent1">
                  <a:lumMod val="60000"/>
                  <a:lumOff val="40000"/>
                </a:schemeClr>
              </a:gs>
            </a:gsLst>
            <a:lin ang="5400000" scaled="1"/>
            <a:tileRect/>
          </a:gradFill>
          <a:ln>
            <a:noFill/>
          </a:ln>
        </p:spPr>
        <p:style>
          <a:lnRef idx="0">
            <a:schemeClr val="accent1"/>
          </a:lnRef>
          <a:fillRef idx="3">
            <a:schemeClr val="accent1"/>
          </a:fillRef>
          <a:effectRef idx="3">
            <a:schemeClr val="accent1"/>
          </a:effectRef>
          <a:fontRef idx="minor">
            <a:schemeClr val="lt1"/>
          </a:fontRef>
        </p:style>
        <p:txBody>
          <a:bodyPr>
            <a:normAutofit fontScale="90000"/>
          </a:bodyPr>
          <a:lstStyle/>
          <a:p>
            <a:r>
              <a:rPr lang="en-US" altLang="zh-CN" dirty="0" smtClean="0">
                <a:latin typeface="Rockwell" charset="0"/>
                <a:ea typeface="Rockwell" charset="0"/>
                <a:cs typeface="Rockwell" charset="0"/>
              </a:rPr>
              <a:t>2016</a:t>
            </a:r>
            <a:r>
              <a:rPr lang="zh-CN" altLang="en-US" dirty="0" smtClean="0">
                <a:latin typeface="Rockwell" charset="0"/>
                <a:ea typeface="Rockwell" charset="0"/>
                <a:cs typeface="Rockwell" charset="0"/>
              </a:rPr>
              <a:t> </a:t>
            </a:r>
            <a:r>
              <a:rPr lang="en-US" altLang="zh-CN" dirty="0" smtClean="0">
                <a:latin typeface="Rockwell" charset="0"/>
                <a:ea typeface="Rockwell" charset="0"/>
                <a:cs typeface="Rockwell" charset="0"/>
              </a:rPr>
              <a:t>SITUATION</a:t>
            </a:r>
            <a:r>
              <a:rPr lang="zh-CN" altLang="en-US" dirty="0" smtClean="0">
                <a:latin typeface="Rockwell" charset="0"/>
                <a:ea typeface="Rockwell" charset="0"/>
                <a:cs typeface="Rockwell" charset="0"/>
              </a:rPr>
              <a:t> </a:t>
            </a:r>
            <a:r>
              <a:rPr lang="en-US" altLang="zh-CN" dirty="0" smtClean="0">
                <a:latin typeface="Rockwell" charset="0"/>
                <a:ea typeface="Rockwell" charset="0"/>
                <a:cs typeface="Rockwell" charset="0"/>
              </a:rPr>
              <a:t>ANALYSIS</a:t>
            </a:r>
            <a:endParaRPr lang="en-US" dirty="0">
              <a:latin typeface="Rockwell" charset="0"/>
              <a:ea typeface="Rockwell" charset="0"/>
              <a:cs typeface="Rockwell" charset="0"/>
            </a:endParaRPr>
          </a:p>
        </p:txBody>
      </p:sp>
    </p:spTree>
    <p:extLst>
      <p:ext uri="{BB962C8B-B14F-4D97-AF65-F5344CB8AC3E}">
        <p14:creationId xmlns:p14="http://schemas.microsoft.com/office/powerpoint/2010/main" val="1294264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6477" y="977592"/>
            <a:ext cx="9012239" cy="1009650"/>
          </a:xfrm>
        </p:spPr>
        <p:txBody>
          <a:bodyPr/>
          <a:lstStyle/>
          <a:p>
            <a:pPr algn="l"/>
            <a:r>
              <a:rPr lang="en-US" altLang="zh-CN" dirty="0" smtClean="0"/>
              <a:t>Domino’s</a:t>
            </a:r>
            <a:r>
              <a:rPr lang="zh-CN" altLang="en-US" dirty="0" smtClean="0"/>
              <a:t> </a:t>
            </a:r>
            <a:r>
              <a:rPr lang="en-US" altLang="zh-CN" dirty="0" smtClean="0"/>
              <a:t>Pizza,</a:t>
            </a:r>
            <a:r>
              <a:rPr lang="zh-CN" altLang="en-US" dirty="0" smtClean="0"/>
              <a:t> </a:t>
            </a:r>
            <a:r>
              <a:rPr lang="en-US" altLang="zh-CN" dirty="0" smtClean="0"/>
              <a:t>Inc.</a:t>
            </a:r>
            <a:endParaRPr lang="en-US" dirty="0"/>
          </a:p>
        </p:txBody>
      </p:sp>
      <p:sp>
        <p:nvSpPr>
          <p:cNvPr id="3" name="Content Placeholder 2"/>
          <p:cNvSpPr>
            <a:spLocks noGrp="1"/>
          </p:cNvSpPr>
          <p:nvPr>
            <p:ph idx="1"/>
          </p:nvPr>
        </p:nvSpPr>
        <p:spPr>
          <a:xfrm>
            <a:off x="1496477" y="2271107"/>
            <a:ext cx="10018713" cy="4586893"/>
          </a:xfrm>
        </p:spPr>
        <p:txBody>
          <a:bodyPr>
            <a:normAutofit fontScale="92500" lnSpcReduction="20000"/>
          </a:bodyPr>
          <a:lstStyle/>
          <a:p>
            <a:pPr>
              <a:buFont typeface="Wingdings" charset="2"/>
              <a:buChar char="Ø"/>
            </a:pPr>
            <a:endParaRPr lang="en-US" dirty="0" smtClean="0"/>
          </a:p>
          <a:p>
            <a:pPr>
              <a:buFont typeface="Wingdings" charset="2"/>
              <a:buChar char="Ø"/>
            </a:pPr>
            <a:r>
              <a:rPr lang="en-US" dirty="0" smtClean="0"/>
              <a:t>Domino’s </a:t>
            </a:r>
            <a:r>
              <a:rPr lang="en-US" dirty="0"/>
              <a:t>is the second largest pizza restaurant chain in the world </a:t>
            </a:r>
            <a:endParaRPr lang="en-US" dirty="0" smtClean="0"/>
          </a:p>
          <a:p>
            <a:pPr lvl="1">
              <a:buFont typeface="Wingdings" charset="2"/>
              <a:buChar char="Ø"/>
            </a:pPr>
            <a:r>
              <a:rPr lang="en-US" dirty="0"/>
              <a:t>more than 85 international markets </a:t>
            </a:r>
          </a:p>
          <a:p>
            <a:pPr lvl="1">
              <a:buFont typeface="Wingdings" charset="2"/>
              <a:buChar char="Ø"/>
            </a:pPr>
            <a:r>
              <a:rPr lang="en-US" dirty="0"/>
              <a:t>more than 13,800 locations </a:t>
            </a:r>
          </a:p>
          <a:p>
            <a:pPr lvl="1">
              <a:buFont typeface="Wingdings" charset="2"/>
              <a:buChar char="Ø"/>
            </a:pPr>
            <a:r>
              <a:rPr lang="en-US" dirty="0"/>
              <a:t>more than 290,000 employees work in the Domino’s Pizza </a:t>
            </a:r>
            <a:r>
              <a:rPr lang="en-US" dirty="0" smtClean="0"/>
              <a:t>system</a:t>
            </a:r>
          </a:p>
          <a:p>
            <a:pPr>
              <a:buFont typeface="Wingdings" charset="2"/>
              <a:buChar char="Ø"/>
            </a:pPr>
            <a:r>
              <a:rPr lang="en-US" altLang="zh-CN" dirty="0" smtClean="0"/>
              <a:t>Business</a:t>
            </a:r>
            <a:r>
              <a:rPr lang="zh-CN" altLang="en-US" dirty="0" smtClean="0"/>
              <a:t> </a:t>
            </a:r>
            <a:r>
              <a:rPr lang="en-US" altLang="zh-CN" dirty="0" smtClean="0"/>
              <a:t>Segment</a:t>
            </a:r>
          </a:p>
          <a:p>
            <a:pPr lvl="1">
              <a:buFont typeface="Wingdings" charset="2"/>
              <a:buChar char="Ø"/>
            </a:pPr>
            <a:r>
              <a:rPr lang="en-US" dirty="0"/>
              <a:t>4,979</a:t>
            </a:r>
            <a:r>
              <a:rPr lang="zh-CN" altLang="en-US" dirty="0"/>
              <a:t> </a:t>
            </a:r>
            <a:r>
              <a:rPr lang="en-US" altLang="zh-CN" dirty="0"/>
              <a:t>domestic</a:t>
            </a:r>
            <a:r>
              <a:rPr lang="en-US" dirty="0"/>
              <a:t> franchise stores </a:t>
            </a:r>
          </a:p>
          <a:p>
            <a:pPr lvl="1">
              <a:buFont typeface="Wingdings" charset="2"/>
              <a:buChar char="Ø"/>
            </a:pPr>
            <a:r>
              <a:rPr lang="en-US" dirty="0"/>
              <a:t>8,440 international franchise stores </a:t>
            </a:r>
          </a:p>
          <a:p>
            <a:pPr lvl="1">
              <a:buFont typeface="Wingdings" charset="2"/>
              <a:buChar char="Ø"/>
            </a:pPr>
            <a:r>
              <a:rPr lang="en-US" dirty="0"/>
              <a:t>18 regional dough manufacturing and food supply chain centers </a:t>
            </a:r>
            <a:endParaRPr lang="en-US" altLang="zh-CN" dirty="0" smtClean="0"/>
          </a:p>
          <a:p>
            <a:pPr>
              <a:buFont typeface="Wingdings" charset="2"/>
              <a:buChar char="Ø"/>
            </a:pPr>
            <a:r>
              <a:rPr lang="en-US" dirty="0"/>
              <a:t>Domino’s is </a:t>
            </a:r>
            <a:r>
              <a:rPr lang="en-US" dirty="0" smtClean="0"/>
              <a:t>the </a:t>
            </a:r>
            <a:r>
              <a:rPr lang="en-US" dirty="0"/>
              <a:t>market share leader in the delivery segment </a:t>
            </a:r>
          </a:p>
          <a:p>
            <a:pPr>
              <a:buFont typeface="Wingdings" charset="2"/>
              <a:buChar char="Ø"/>
            </a:pPr>
            <a:r>
              <a:rPr lang="en-US" dirty="0"/>
              <a:t>Domino’s is </a:t>
            </a:r>
            <a:r>
              <a:rPr lang="en-US" dirty="0" smtClean="0"/>
              <a:t>amongst </a:t>
            </a:r>
            <a:r>
              <a:rPr lang="en-US" dirty="0"/>
              <a:t>the top three chains in share in the carryout segment </a:t>
            </a:r>
          </a:p>
          <a:p>
            <a:pPr>
              <a:buFont typeface="Wingdings" charset="2"/>
              <a:buChar char="Ø"/>
            </a:pPr>
            <a:endParaRPr lang="en-US" altLang="zh-CN" dirty="0" smtClean="0"/>
          </a:p>
          <a:p>
            <a:pPr lvl="1">
              <a:buFont typeface="Wingdings" charset="2"/>
              <a:buChar char="Ø"/>
            </a:pPr>
            <a:endParaRPr lang="en-US" dirty="0"/>
          </a:p>
          <a:p>
            <a:pPr lvl="1">
              <a:buFont typeface="Wingdings" charset="2"/>
              <a:buChar char="Ø"/>
            </a:pPr>
            <a:endParaRPr lang="en-US" dirty="0"/>
          </a:p>
          <a:p>
            <a:pPr lvl="1">
              <a:buFont typeface="Wingdings" charset="2"/>
              <a:buChar char="Ø"/>
            </a:pPr>
            <a:endParaRPr lang="en-US" dirty="0" smtClean="0"/>
          </a:p>
        </p:txBody>
      </p:sp>
    </p:spTree>
    <p:extLst>
      <p:ext uri="{BB962C8B-B14F-4D97-AF65-F5344CB8AC3E}">
        <p14:creationId xmlns:p14="http://schemas.microsoft.com/office/powerpoint/2010/main" val="21223484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Our </a:t>
            </a:r>
            <a:r>
              <a:rPr lang="en-US" altLang="zh-CN" dirty="0" smtClean="0"/>
              <a:t>Mission</a:t>
            </a:r>
            <a:endParaRPr lang="en-US" dirty="0"/>
          </a:p>
        </p:txBody>
      </p:sp>
      <p:sp>
        <p:nvSpPr>
          <p:cNvPr id="3" name="Content Placeholder 2"/>
          <p:cNvSpPr>
            <a:spLocks noGrp="1"/>
          </p:cNvSpPr>
          <p:nvPr>
            <p:ph idx="1"/>
          </p:nvPr>
        </p:nvSpPr>
        <p:spPr>
          <a:xfrm>
            <a:off x="1484310" y="2201335"/>
            <a:ext cx="10018713" cy="3759200"/>
          </a:xfrm>
        </p:spPr>
        <p:txBody>
          <a:bodyPr>
            <a:normAutofit/>
          </a:bodyPr>
          <a:lstStyle/>
          <a:p>
            <a:pPr>
              <a:buFont typeface="Wingdings" charset="2"/>
              <a:buChar char="Ø"/>
            </a:pPr>
            <a:r>
              <a:rPr lang="en-US" dirty="0"/>
              <a:t>To be the leader in delivering off-premise pizza convenience to consumers around the </a:t>
            </a:r>
            <a:r>
              <a:rPr lang="en-US" dirty="0" smtClean="0"/>
              <a:t>world </a:t>
            </a:r>
            <a:r>
              <a:rPr lang="en-US" altLang="zh-CN" dirty="0"/>
              <a:t>a</a:t>
            </a:r>
            <a:r>
              <a:rPr lang="en-US" dirty="0" smtClean="0"/>
              <a:t>s </a:t>
            </a:r>
            <a:r>
              <a:rPr lang="en-US" dirty="0"/>
              <a:t>a </a:t>
            </a:r>
            <a:r>
              <a:rPr lang="en-US" dirty="0" smtClean="0"/>
              <a:t>team</a:t>
            </a:r>
          </a:p>
          <a:p>
            <a:pPr lvl="1">
              <a:buFont typeface="Wingdings" charset="2"/>
              <a:buChar char="Ø"/>
            </a:pPr>
            <a:r>
              <a:rPr lang="en-US" dirty="0" smtClean="0"/>
              <a:t>Being </a:t>
            </a:r>
            <a:r>
              <a:rPr lang="en-US" dirty="0"/>
              <a:t>fanatical about product quality and service </a:t>
            </a:r>
            <a:r>
              <a:rPr lang="en-US" dirty="0" smtClean="0"/>
              <a:t>consistency</a:t>
            </a:r>
          </a:p>
          <a:p>
            <a:pPr lvl="1">
              <a:buFont typeface="Wingdings" charset="2"/>
              <a:buChar char="Ø"/>
            </a:pPr>
            <a:r>
              <a:rPr lang="en-US" altLang="zh-CN" dirty="0"/>
              <a:t>P</a:t>
            </a:r>
            <a:r>
              <a:rPr lang="en-US" dirty="0" smtClean="0"/>
              <a:t>roviding </a:t>
            </a:r>
            <a:r>
              <a:rPr lang="en-US" dirty="0"/>
              <a:t>product variety to meet all customer </a:t>
            </a:r>
            <a:r>
              <a:rPr lang="en-US" dirty="0" smtClean="0"/>
              <a:t>needs</a:t>
            </a:r>
          </a:p>
          <a:p>
            <a:pPr lvl="1">
              <a:buFont typeface="Wingdings" charset="2"/>
              <a:buChar char="Ø"/>
            </a:pPr>
            <a:r>
              <a:rPr lang="en-US" altLang="zh-CN" dirty="0"/>
              <a:t>P</a:t>
            </a:r>
            <a:r>
              <a:rPr lang="en-US" dirty="0" smtClean="0"/>
              <a:t>lacing </a:t>
            </a:r>
            <a:r>
              <a:rPr lang="en-US" dirty="0"/>
              <a:t>team member and customer safety and security above all other </a:t>
            </a:r>
            <a:r>
              <a:rPr lang="en-US" dirty="0" smtClean="0"/>
              <a:t>concerns</a:t>
            </a:r>
            <a:endParaRPr lang="en-US" dirty="0"/>
          </a:p>
          <a:p>
            <a:pPr lvl="1">
              <a:buFont typeface="Wingdings" charset="2"/>
              <a:buChar char="Ø"/>
            </a:pPr>
            <a:r>
              <a:rPr lang="en-US" altLang="zh-CN" dirty="0"/>
              <a:t>C</a:t>
            </a:r>
            <a:r>
              <a:rPr lang="en-US" dirty="0" smtClean="0"/>
              <a:t>reating </a:t>
            </a:r>
            <a:r>
              <a:rPr lang="en-US" dirty="0"/>
              <a:t>an environment in which all team members feel </a:t>
            </a:r>
            <a:r>
              <a:rPr lang="en-US" dirty="0" smtClean="0"/>
              <a:t>valued</a:t>
            </a:r>
          </a:p>
          <a:p>
            <a:pPr lvl="1">
              <a:buFont typeface="Wingdings" charset="2"/>
              <a:buChar char="Ø"/>
            </a:pPr>
            <a:r>
              <a:rPr lang="en-US" altLang="zh-CN" dirty="0"/>
              <a:t>B</a:t>
            </a:r>
            <a:r>
              <a:rPr lang="en-US" dirty="0" smtClean="0"/>
              <a:t>uilding </a:t>
            </a:r>
            <a:r>
              <a:rPr lang="en-US" dirty="0"/>
              <a:t>and maintaining relationships that reward franchisees and other partners for their </a:t>
            </a:r>
            <a:r>
              <a:rPr lang="en-US" dirty="0" smtClean="0"/>
              <a:t>contributions</a:t>
            </a:r>
            <a:r>
              <a:rPr lang="en-US" dirty="0"/>
              <a:t/>
            </a:r>
            <a:br>
              <a:rPr lang="en-US" dirty="0"/>
            </a:br>
            <a:endParaRPr lang="en-US" dirty="0"/>
          </a:p>
        </p:txBody>
      </p:sp>
    </p:spTree>
    <p:extLst>
      <p:ext uri="{BB962C8B-B14F-4D97-AF65-F5344CB8AC3E}">
        <p14:creationId xmlns:p14="http://schemas.microsoft.com/office/powerpoint/2010/main" val="19414586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Our </a:t>
            </a:r>
            <a:r>
              <a:rPr lang="en-US" dirty="0" smtClean="0"/>
              <a:t>Vision</a:t>
            </a:r>
            <a:endParaRPr lang="en-US" dirty="0"/>
          </a:p>
        </p:txBody>
      </p:sp>
      <p:sp>
        <p:nvSpPr>
          <p:cNvPr id="3" name="Content Placeholder 2"/>
          <p:cNvSpPr>
            <a:spLocks noGrp="1"/>
          </p:cNvSpPr>
          <p:nvPr>
            <p:ph idx="1"/>
          </p:nvPr>
        </p:nvSpPr>
        <p:spPr>
          <a:xfrm>
            <a:off x="1484311" y="1684864"/>
            <a:ext cx="10018713" cy="3657600"/>
          </a:xfrm>
        </p:spPr>
        <p:txBody>
          <a:bodyPr>
            <a:normAutofit/>
          </a:bodyPr>
          <a:lstStyle/>
          <a:p>
            <a:pPr>
              <a:buFont typeface="Wingdings" charset="2"/>
              <a:buChar char="Ø"/>
            </a:pPr>
            <a:endParaRPr lang="en-US" altLang="zh-CN" dirty="0" smtClean="0"/>
          </a:p>
          <a:p>
            <a:pPr>
              <a:buFont typeface="Wingdings" charset="2"/>
              <a:buChar char="Ø"/>
            </a:pPr>
            <a:r>
              <a:rPr lang="en-AU" dirty="0" smtClean="0"/>
              <a:t>Exceptional people on a mission to be the best pizza delivery company in the world</a:t>
            </a:r>
          </a:p>
          <a:p>
            <a:pPr lvl="1">
              <a:buFont typeface="Wingdings" charset="2"/>
              <a:buChar char="Ø"/>
            </a:pPr>
            <a:r>
              <a:rPr lang="en-AU" dirty="0" smtClean="0"/>
              <a:t>Put the people first</a:t>
            </a:r>
          </a:p>
          <a:p>
            <a:pPr lvl="1">
              <a:buFont typeface="Wingdings" charset="2"/>
              <a:buChar char="Ø"/>
            </a:pPr>
            <a:r>
              <a:rPr lang="en-AU" dirty="0" smtClean="0"/>
              <a:t>Build the brand stores</a:t>
            </a:r>
          </a:p>
          <a:p>
            <a:pPr lvl="1">
              <a:buFont typeface="Wingdings" charset="2"/>
              <a:buChar char="Ø"/>
            </a:pPr>
            <a:r>
              <a:rPr lang="en-AU" dirty="0" smtClean="0"/>
              <a:t>Achieve flawless execution</a:t>
            </a:r>
          </a:p>
          <a:p>
            <a:pPr lvl="1">
              <a:buFont typeface="Wingdings" charset="2"/>
              <a:buChar char="Ø"/>
            </a:pPr>
            <a:r>
              <a:rPr lang="en-AU" dirty="0" smtClean="0"/>
              <a:t>Maintain high standards</a:t>
            </a:r>
            <a:endParaRPr lang="en-US" dirty="0"/>
          </a:p>
          <a:p>
            <a:endParaRPr lang="en-US" dirty="0"/>
          </a:p>
        </p:txBody>
      </p:sp>
    </p:spTree>
    <p:extLst>
      <p:ext uri="{BB962C8B-B14F-4D97-AF65-F5344CB8AC3E}">
        <p14:creationId xmlns:p14="http://schemas.microsoft.com/office/powerpoint/2010/main" val="12289308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altLang="zh-CN" sz="2800" dirty="0" smtClean="0"/>
              <a:t>Word Cloud</a:t>
            </a:r>
            <a:r>
              <a:rPr lang="zh-CN" altLang="en-US" sz="2800" dirty="0" smtClean="0"/>
              <a:t> </a:t>
            </a:r>
            <a:r>
              <a:rPr lang="en-US" altLang="zh-CN" sz="2800" dirty="0" smtClean="0"/>
              <a:t>based</a:t>
            </a:r>
            <a:r>
              <a:rPr lang="zh-CN" altLang="en-US" sz="2800" dirty="0" smtClean="0"/>
              <a:t> </a:t>
            </a:r>
            <a:r>
              <a:rPr lang="en-US" altLang="zh-CN" sz="2800" dirty="0" smtClean="0"/>
              <a:t>on</a:t>
            </a:r>
            <a:r>
              <a:rPr lang="zh-CN" altLang="en-US" sz="2800" dirty="0" smtClean="0"/>
              <a:t> </a:t>
            </a:r>
            <a:r>
              <a:rPr lang="en-US" altLang="zh-CN" sz="2800" dirty="0" smtClean="0"/>
              <a:t>the</a:t>
            </a:r>
            <a:r>
              <a:rPr lang="zh-CN" altLang="en-US" sz="2800" dirty="0" smtClean="0"/>
              <a:t> </a:t>
            </a:r>
            <a:r>
              <a:rPr lang="en-AU" altLang="zh-CN" sz="2800" dirty="0" smtClean="0"/>
              <a:t>annual report</a:t>
            </a:r>
            <a:endParaRPr lang="en-US" sz="2800" dirty="0"/>
          </a:p>
        </p:txBody>
      </p:sp>
      <p:sp>
        <p:nvSpPr>
          <p:cNvPr id="6" name="Text Placeholder 5"/>
          <p:cNvSpPr>
            <a:spLocks noGrp="1"/>
          </p:cNvSpPr>
          <p:nvPr>
            <p:ph type="body" sz="half" idx="2"/>
          </p:nvPr>
        </p:nvSpPr>
        <p:spPr/>
        <p:txBody>
          <a:bodyPr>
            <a:normAutofit/>
          </a:bodyPr>
          <a:lstStyle/>
          <a:p>
            <a:r>
              <a:rPr lang="en-US" altLang="zh-CN" sz="2000" dirty="0" smtClean="0"/>
              <a:t>As</a:t>
            </a:r>
            <a:r>
              <a:rPr lang="zh-CN" altLang="en-US" sz="2000" dirty="0" smtClean="0"/>
              <a:t> </a:t>
            </a:r>
            <a:r>
              <a:rPr lang="en-US" altLang="zh-CN" sz="2000" dirty="0" smtClean="0"/>
              <a:t>we</a:t>
            </a:r>
            <a:r>
              <a:rPr lang="zh-CN" altLang="en-US" sz="2000" dirty="0" smtClean="0"/>
              <a:t> </a:t>
            </a:r>
            <a:r>
              <a:rPr lang="en-US" altLang="zh-CN" sz="2000" dirty="0" smtClean="0"/>
              <a:t>mentioned</a:t>
            </a:r>
            <a:r>
              <a:rPr lang="zh-CN" altLang="en-US" sz="2000" dirty="0" smtClean="0"/>
              <a:t> </a:t>
            </a:r>
            <a:r>
              <a:rPr lang="en-US" altLang="zh-CN" sz="2000" dirty="0" smtClean="0"/>
              <a:t>in</a:t>
            </a:r>
            <a:r>
              <a:rPr lang="zh-CN" altLang="en-US" sz="2000" dirty="0" smtClean="0"/>
              <a:t> </a:t>
            </a:r>
            <a:r>
              <a:rPr lang="en-US" altLang="zh-CN" sz="2000" dirty="0" smtClean="0"/>
              <a:t>the</a:t>
            </a:r>
            <a:r>
              <a:rPr lang="zh-CN" altLang="en-US" sz="2000" dirty="0" smtClean="0"/>
              <a:t> </a:t>
            </a:r>
            <a:r>
              <a:rPr lang="en-US" altLang="zh-CN" sz="2000" dirty="0" smtClean="0"/>
              <a:t>previous</a:t>
            </a:r>
            <a:r>
              <a:rPr lang="zh-CN" altLang="en-US" sz="2000" dirty="0" smtClean="0"/>
              <a:t> </a:t>
            </a:r>
            <a:r>
              <a:rPr lang="en-US" altLang="zh-CN" sz="2000" dirty="0" smtClean="0"/>
              <a:t>pages,</a:t>
            </a:r>
            <a:r>
              <a:rPr lang="zh-CN" altLang="en-US" sz="2000" dirty="0" smtClean="0"/>
              <a:t> </a:t>
            </a:r>
            <a:r>
              <a:rPr lang="en-US" altLang="zh-CN" sz="2000" dirty="0" smtClean="0"/>
              <a:t>the</a:t>
            </a:r>
            <a:r>
              <a:rPr lang="zh-CN" altLang="en-US" sz="2000" dirty="0" smtClean="0"/>
              <a:t> </a:t>
            </a:r>
            <a:r>
              <a:rPr lang="en-US" altLang="zh-CN" sz="2000" dirty="0" smtClean="0"/>
              <a:t>key</a:t>
            </a:r>
            <a:r>
              <a:rPr lang="zh-CN" altLang="en-US" sz="2000" dirty="0" smtClean="0"/>
              <a:t> </a:t>
            </a:r>
            <a:r>
              <a:rPr lang="en-US" altLang="zh-CN" sz="2000" dirty="0" smtClean="0"/>
              <a:t>words</a:t>
            </a:r>
            <a:r>
              <a:rPr lang="zh-CN" altLang="en-US" sz="2000" dirty="0" smtClean="0"/>
              <a:t> </a:t>
            </a:r>
            <a:r>
              <a:rPr lang="en-US" altLang="zh-CN" sz="2000" dirty="0" smtClean="0"/>
              <a:t>can</a:t>
            </a:r>
            <a:r>
              <a:rPr lang="zh-CN" altLang="en-US" sz="2000" dirty="0" smtClean="0"/>
              <a:t> </a:t>
            </a:r>
            <a:r>
              <a:rPr lang="en-US" altLang="zh-CN" sz="2000" dirty="0" smtClean="0"/>
              <a:t>be</a:t>
            </a:r>
            <a:r>
              <a:rPr lang="zh-CN" altLang="en-US" sz="2000" dirty="0" smtClean="0"/>
              <a:t> </a:t>
            </a:r>
            <a:r>
              <a:rPr lang="en-US" altLang="zh-CN" sz="2000" dirty="0" smtClean="0"/>
              <a:t>found</a:t>
            </a:r>
            <a:r>
              <a:rPr lang="zh-CN" altLang="en-US" sz="2000" dirty="0" smtClean="0"/>
              <a:t> </a:t>
            </a:r>
            <a:r>
              <a:rPr lang="en-US" altLang="zh-CN" sz="2000" dirty="0" smtClean="0"/>
              <a:t>easily</a:t>
            </a:r>
            <a:r>
              <a:rPr lang="zh-CN" altLang="en-US" sz="2000" dirty="0" smtClean="0"/>
              <a:t> </a:t>
            </a:r>
            <a:r>
              <a:rPr lang="en-US" altLang="zh-CN" sz="2000" dirty="0" smtClean="0"/>
              <a:t>in</a:t>
            </a:r>
            <a:r>
              <a:rPr lang="zh-CN" altLang="en-US" sz="2000" dirty="0" smtClean="0"/>
              <a:t> </a:t>
            </a:r>
            <a:r>
              <a:rPr lang="en-US" altLang="zh-CN" sz="2000" dirty="0" smtClean="0"/>
              <a:t>the</a:t>
            </a:r>
            <a:r>
              <a:rPr lang="zh-CN" altLang="en-US" sz="2000" dirty="0" smtClean="0"/>
              <a:t> </a:t>
            </a:r>
            <a:r>
              <a:rPr lang="en-US" altLang="zh-CN" sz="2000" dirty="0" smtClean="0"/>
              <a:t>word</a:t>
            </a:r>
            <a:r>
              <a:rPr lang="zh-CN" altLang="en-US" sz="2000" dirty="0" smtClean="0"/>
              <a:t> </a:t>
            </a:r>
            <a:r>
              <a:rPr lang="en-US" altLang="zh-CN" sz="2000" dirty="0" smtClean="0"/>
              <a:t>cloud</a:t>
            </a:r>
            <a:r>
              <a:rPr lang="zh-CN" altLang="en-US" sz="2000" dirty="0" smtClean="0"/>
              <a:t> </a:t>
            </a:r>
            <a:r>
              <a:rPr lang="en-US" altLang="zh-CN" sz="2000" dirty="0" smtClean="0"/>
              <a:t>such</a:t>
            </a:r>
            <a:r>
              <a:rPr lang="zh-CN" altLang="en-US" sz="2000" dirty="0" smtClean="0"/>
              <a:t> </a:t>
            </a:r>
            <a:r>
              <a:rPr lang="en-US" altLang="zh-CN" sz="2000" dirty="0" smtClean="0"/>
              <a:t>as</a:t>
            </a:r>
            <a:r>
              <a:rPr lang="zh-CN" altLang="en-US" sz="2000" dirty="0" smtClean="0"/>
              <a:t> </a:t>
            </a:r>
            <a:r>
              <a:rPr lang="en-US" altLang="zh-CN" sz="2000" dirty="0" smtClean="0"/>
              <a:t>“chain”,</a:t>
            </a:r>
            <a:r>
              <a:rPr lang="zh-CN" altLang="en-US" sz="2000" dirty="0" smtClean="0"/>
              <a:t> </a:t>
            </a:r>
            <a:r>
              <a:rPr lang="en-US" altLang="zh-CN" sz="2000" dirty="0" smtClean="0"/>
              <a:t>“supply”,</a:t>
            </a:r>
            <a:r>
              <a:rPr lang="zh-CN" altLang="en-US" sz="2000" dirty="0" smtClean="0"/>
              <a:t> </a:t>
            </a:r>
            <a:r>
              <a:rPr lang="en-US" altLang="zh-CN" sz="2000" dirty="0" smtClean="0"/>
              <a:t>etc.</a:t>
            </a:r>
            <a:endParaRPr lang="en-US" sz="2000" dirty="0"/>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33433" y="1455578"/>
            <a:ext cx="5170582" cy="3531636"/>
          </a:xfrm>
        </p:spPr>
      </p:pic>
    </p:spTree>
    <p:extLst>
      <p:ext uri="{BB962C8B-B14F-4D97-AF65-F5344CB8AC3E}">
        <p14:creationId xmlns:p14="http://schemas.microsoft.com/office/powerpoint/2010/main" val="19093543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SWOT analysis of </a:t>
            </a:r>
            <a:r>
              <a:rPr lang="en-US" dirty="0" smtClean="0"/>
              <a:t>Domino</a:t>
            </a:r>
            <a:r>
              <a:rPr lang="en-US" altLang="zh-CN" dirty="0" smtClean="0"/>
              <a:t>’</a:t>
            </a:r>
            <a:r>
              <a:rPr lang="en-US" dirty="0" smtClean="0"/>
              <a:t>s</a:t>
            </a:r>
            <a:r>
              <a:rPr lang="zh-CN" altLang="en-US" dirty="0" smtClean="0"/>
              <a:t> </a:t>
            </a:r>
            <a:r>
              <a:rPr lang="en-US" altLang="zh-CN" dirty="0" smtClean="0"/>
              <a:t>Pizza</a:t>
            </a:r>
            <a:endParaRPr lang="en-US" dirty="0"/>
          </a:p>
        </p:txBody>
      </p:sp>
      <p:sp>
        <p:nvSpPr>
          <p:cNvPr id="8" name="Text Placeholder 7"/>
          <p:cNvSpPr>
            <a:spLocks noGrp="1"/>
          </p:cNvSpPr>
          <p:nvPr>
            <p:ph type="body" idx="1"/>
          </p:nvPr>
        </p:nvSpPr>
        <p:spPr/>
        <p:txBody>
          <a:bodyPr/>
          <a:lstStyle/>
          <a:p>
            <a:r>
              <a:rPr lang="en-US" dirty="0"/>
              <a:t>Strengths</a:t>
            </a:r>
          </a:p>
        </p:txBody>
      </p:sp>
      <p:sp>
        <p:nvSpPr>
          <p:cNvPr id="12" name="Content Placeholder 11"/>
          <p:cNvSpPr>
            <a:spLocks noGrp="1"/>
          </p:cNvSpPr>
          <p:nvPr>
            <p:ph sz="half" idx="2"/>
          </p:nvPr>
        </p:nvSpPr>
        <p:spPr/>
        <p:txBody>
          <a:bodyPr/>
          <a:lstStyle/>
          <a:p>
            <a:pPr marL="342900" indent="-342900">
              <a:buFont typeface="+mj-lt"/>
              <a:buAutoNum type="arabicPeriod"/>
            </a:pPr>
            <a:r>
              <a:rPr lang="en-US" altLang="zh-CN" dirty="0" smtClean="0"/>
              <a:t>Brand</a:t>
            </a:r>
            <a:r>
              <a:rPr lang="zh-CN" altLang="en-US" dirty="0" smtClean="0"/>
              <a:t> </a:t>
            </a:r>
            <a:r>
              <a:rPr lang="en-US" altLang="zh-CN" dirty="0" smtClean="0"/>
              <a:t>Recall</a:t>
            </a:r>
          </a:p>
          <a:p>
            <a:pPr marL="342900" indent="-342900">
              <a:buFont typeface="+mj-lt"/>
              <a:buAutoNum type="arabicPeriod"/>
            </a:pPr>
            <a:r>
              <a:rPr lang="en-US" altLang="zh-CN" dirty="0" smtClean="0"/>
              <a:t>Fantastic</a:t>
            </a:r>
            <a:r>
              <a:rPr lang="zh-CN" altLang="en-US" dirty="0" smtClean="0"/>
              <a:t> </a:t>
            </a:r>
            <a:r>
              <a:rPr lang="en-US" altLang="zh-CN" dirty="0" smtClean="0"/>
              <a:t>channel</a:t>
            </a:r>
            <a:r>
              <a:rPr lang="zh-CN" altLang="en-US" dirty="0" smtClean="0"/>
              <a:t> </a:t>
            </a:r>
            <a:r>
              <a:rPr lang="en-US" altLang="zh-CN" dirty="0" smtClean="0"/>
              <a:t>network</a:t>
            </a:r>
          </a:p>
          <a:p>
            <a:pPr marL="342900" indent="-342900">
              <a:buFont typeface="+mj-lt"/>
              <a:buAutoNum type="arabicPeriod"/>
            </a:pPr>
            <a:r>
              <a:rPr lang="en-US" altLang="zh-CN" dirty="0" smtClean="0"/>
              <a:t>Quick</a:t>
            </a:r>
            <a:r>
              <a:rPr lang="zh-CN" altLang="en-US" dirty="0" smtClean="0"/>
              <a:t> </a:t>
            </a:r>
            <a:r>
              <a:rPr lang="en-US" altLang="zh-CN" dirty="0" smtClean="0"/>
              <a:t>service</a:t>
            </a:r>
            <a:r>
              <a:rPr lang="zh-CN" altLang="en-US" dirty="0" smtClean="0"/>
              <a:t> </a:t>
            </a:r>
            <a:r>
              <a:rPr lang="en-US" altLang="zh-CN" dirty="0" smtClean="0"/>
              <a:t>&amp;</a:t>
            </a:r>
            <a:r>
              <a:rPr lang="zh-CN" altLang="en-US" dirty="0" smtClean="0"/>
              <a:t> </a:t>
            </a:r>
            <a:r>
              <a:rPr lang="en-US" altLang="zh-CN" dirty="0" smtClean="0"/>
              <a:t>deep</a:t>
            </a:r>
            <a:r>
              <a:rPr lang="zh-CN" altLang="en-US" dirty="0" smtClean="0"/>
              <a:t> </a:t>
            </a:r>
            <a:r>
              <a:rPr lang="en-US" altLang="zh-CN" dirty="0" smtClean="0"/>
              <a:t>menu</a:t>
            </a:r>
          </a:p>
          <a:p>
            <a:pPr marL="342900" indent="-342900">
              <a:buFont typeface="+mj-lt"/>
              <a:buAutoNum type="arabicPeriod"/>
            </a:pPr>
            <a:r>
              <a:rPr lang="en-US" altLang="zh-CN" dirty="0" smtClean="0"/>
              <a:t>Low</a:t>
            </a:r>
            <a:r>
              <a:rPr lang="zh-CN" altLang="en-US" dirty="0" smtClean="0"/>
              <a:t> </a:t>
            </a:r>
            <a:r>
              <a:rPr lang="en-US" altLang="zh-CN" dirty="0" smtClean="0"/>
              <a:t>cost</a:t>
            </a:r>
            <a:r>
              <a:rPr lang="zh-CN" altLang="en-US" dirty="0" smtClean="0"/>
              <a:t> </a:t>
            </a:r>
            <a:r>
              <a:rPr lang="en-US" altLang="zh-CN" dirty="0" smtClean="0"/>
              <a:t>alternative</a:t>
            </a:r>
          </a:p>
          <a:p>
            <a:pPr marL="342900" indent="-342900">
              <a:buFont typeface="+mj-lt"/>
              <a:buAutoNum type="arabicPeriod"/>
            </a:pPr>
            <a:r>
              <a:rPr lang="en-US" altLang="zh-CN" dirty="0" smtClean="0"/>
              <a:t>Healthier</a:t>
            </a:r>
            <a:r>
              <a:rPr lang="zh-CN" altLang="en-US" dirty="0" smtClean="0"/>
              <a:t> </a:t>
            </a:r>
            <a:r>
              <a:rPr lang="en-US" altLang="zh-CN" dirty="0" smtClean="0"/>
              <a:t>alternatives</a:t>
            </a:r>
          </a:p>
          <a:p>
            <a:pPr marL="342900" indent="-342900">
              <a:buFont typeface="+mj-lt"/>
              <a:buAutoNum type="arabicPeriod"/>
            </a:pPr>
            <a:r>
              <a:rPr lang="en-US" altLang="zh-CN" dirty="0" smtClean="0"/>
              <a:t>Efficient</a:t>
            </a:r>
            <a:r>
              <a:rPr lang="zh-CN" altLang="en-US" dirty="0" smtClean="0"/>
              <a:t> </a:t>
            </a:r>
            <a:r>
              <a:rPr lang="en-US" altLang="zh-CN" dirty="0" smtClean="0"/>
              <a:t>supply</a:t>
            </a:r>
            <a:r>
              <a:rPr lang="zh-CN" altLang="en-US" dirty="0" smtClean="0"/>
              <a:t> </a:t>
            </a:r>
            <a:r>
              <a:rPr lang="en-US" altLang="zh-CN" dirty="0" smtClean="0"/>
              <a:t>chain</a:t>
            </a:r>
            <a:endParaRPr lang="en-US" dirty="0"/>
          </a:p>
        </p:txBody>
      </p:sp>
      <p:sp>
        <p:nvSpPr>
          <p:cNvPr id="10" name="Text Placeholder 9"/>
          <p:cNvSpPr>
            <a:spLocks noGrp="1"/>
          </p:cNvSpPr>
          <p:nvPr>
            <p:ph type="body" sz="quarter" idx="3"/>
          </p:nvPr>
        </p:nvSpPr>
        <p:spPr/>
        <p:txBody>
          <a:bodyPr/>
          <a:lstStyle/>
          <a:p>
            <a:r>
              <a:rPr lang="en-US" dirty="0"/>
              <a:t>Opportunities</a:t>
            </a:r>
          </a:p>
        </p:txBody>
      </p:sp>
      <p:sp>
        <p:nvSpPr>
          <p:cNvPr id="13" name="Content Placeholder 12"/>
          <p:cNvSpPr>
            <a:spLocks noGrp="1"/>
          </p:cNvSpPr>
          <p:nvPr>
            <p:ph sz="quarter" idx="4"/>
          </p:nvPr>
        </p:nvSpPr>
        <p:spPr/>
        <p:txBody>
          <a:bodyPr/>
          <a:lstStyle/>
          <a:p>
            <a:pPr marL="342900" indent="-342900">
              <a:buFont typeface="+mj-lt"/>
              <a:buAutoNum type="arabicPeriod"/>
            </a:pPr>
            <a:r>
              <a:rPr lang="en-US" altLang="zh-CN" dirty="0" smtClean="0"/>
              <a:t>Market</a:t>
            </a:r>
            <a:r>
              <a:rPr lang="zh-CN" altLang="en-US" dirty="0" smtClean="0"/>
              <a:t> </a:t>
            </a:r>
            <a:r>
              <a:rPr lang="en-US" altLang="zh-CN" dirty="0" smtClean="0"/>
              <a:t>Expansion</a:t>
            </a:r>
          </a:p>
          <a:p>
            <a:pPr marL="342900" indent="-342900">
              <a:buFont typeface="+mj-lt"/>
              <a:buAutoNum type="arabicPeriod"/>
            </a:pPr>
            <a:r>
              <a:rPr lang="en-US" altLang="zh-CN" dirty="0" smtClean="0"/>
              <a:t>Penetration</a:t>
            </a:r>
          </a:p>
          <a:p>
            <a:pPr marL="342900" indent="-342900">
              <a:buFont typeface="+mj-lt"/>
              <a:buAutoNum type="arabicPeriod"/>
            </a:pPr>
            <a:r>
              <a:rPr lang="en-US" altLang="zh-CN" dirty="0" smtClean="0"/>
              <a:t>Health</a:t>
            </a:r>
            <a:r>
              <a:rPr lang="zh-CN" altLang="en-US" dirty="0" smtClean="0"/>
              <a:t> </a:t>
            </a:r>
            <a:r>
              <a:rPr lang="en-US" altLang="zh-CN" dirty="0" smtClean="0"/>
              <a:t>conscious</a:t>
            </a:r>
            <a:r>
              <a:rPr lang="zh-CN" altLang="en-US" dirty="0" smtClean="0"/>
              <a:t> </a:t>
            </a:r>
            <a:r>
              <a:rPr lang="en-US" altLang="zh-CN" dirty="0" smtClean="0"/>
              <a:t>eatables</a:t>
            </a:r>
          </a:p>
          <a:p>
            <a:pPr marL="342900" indent="-342900">
              <a:buFont typeface="+mj-lt"/>
              <a:buAutoNum type="arabicPeriod"/>
            </a:pPr>
            <a:r>
              <a:rPr lang="en-US" altLang="zh-CN" dirty="0" smtClean="0"/>
              <a:t>Restaurants</a:t>
            </a:r>
            <a:endParaRPr lang="en-US" dirty="0"/>
          </a:p>
        </p:txBody>
      </p:sp>
    </p:spTree>
    <p:extLst>
      <p:ext uri="{BB962C8B-B14F-4D97-AF65-F5344CB8AC3E}">
        <p14:creationId xmlns:p14="http://schemas.microsoft.com/office/powerpoint/2010/main" val="1423059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047751"/>
            <a:ext cx="10018713" cy="1752599"/>
          </a:xfrm>
        </p:spPr>
        <p:txBody>
          <a:bodyPr>
            <a:normAutofit/>
          </a:bodyPr>
          <a:lstStyle/>
          <a:p>
            <a:r>
              <a:rPr lang="en-US" dirty="0"/>
              <a:t>SWOT analysis of </a:t>
            </a:r>
            <a:r>
              <a:rPr lang="en-US" dirty="0" smtClean="0"/>
              <a:t>Domino</a:t>
            </a:r>
            <a:r>
              <a:rPr lang="en-US" altLang="zh-CN" dirty="0" smtClean="0"/>
              <a:t>’</a:t>
            </a:r>
            <a:r>
              <a:rPr lang="en-US" dirty="0" smtClean="0"/>
              <a:t>s</a:t>
            </a:r>
            <a:r>
              <a:rPr lang="zh-CN" altLang="en-US" dirty="0" smtClean="0"/>
              <a:t> </a:t>
            </a:r>
            <a:r>
              <a:rPr lang="en-US" altLang="zh-CN" dirty="0" smtClean="0"/>
              <a:t>Pizza</a:t>
            </a:r>
            <a:r>
              <a:rPr lang="en-US" dirty="0"/>
              <a:t/>
            </a:r>
            <a:br>
              <a:rPr lang="en-US" dirty="0"/>
            </a:br>
            <a:endParaRPr lang="en-US" dirty="0"/>
          </a:p>
        </p:txBody>
      </p:sp>
      <p:sp>
        <p:nvSpPr>
          <p:cNvPr id="4" name="Text Placeholder 3"/>
          <p:cNvSpPr>
            <a:spLocks noGrp="1"/>
          </p:cNvSpPr>
          <p:nvPr>
            <p:ph type="body" idx="1"/>
          </p:nvPr>
        </p:nvSpPr>
        <p:spPr/>
        <p:txBody>
          <a:bodyPr/>
          <a:lstStyle/>
          <a:p>
            <a:r>
              <a:rPr lang="en-US" altLang="zh-CN" dirty="0" smtClean="0"/>
              <a:t>Weaknesses</a:t>
            </a:r>
            <a:endParaRPr lang="en-US" dirty="0"/>
          </a:p>
        </p:txBody>
      </p:sp>
      <p:sp>
        <p:nvSpPr>
          <p:cNvPr id="8" name="Content Placeholder 7"/>
          <p:cNvSpPr>
            <a:spLocks noGrp="1"/>
          </p:cNvSpPr>
          <p:nvPr>
            <p:ph sz="half" idx="2"/>
          </p:nvPr>
        </p:nvSpPr>
        <p:spPr/>
        <p:txBody>
          <a:bodyPr/>
          <a:lstStyle/>
          <a:p>
            <a:pPr marL="342900" indent="-342900">
              <a:buFont typeface="+mj-lt"/>
              <a:buAutoNum type="arabicPeriod"/>
            </a:pPr>
            <a:r>
              <a:rPr lang="en-US" altLang="zh-CN" dirty="0" smtClean="0"/>
              <a:t>Operations</a:t>
            </a:r>
          </a:p>
          <a:p>
            <a:pPr marL="342900" indent="-342900">
              <a:buFont typeface="+mj-lt"/>
              <a:buAutoNum type="arabicPeriod"/>
            </a:pPr>
            <a:r>
              <a:rPr lang="en-US" altLang="zh-CN" dirty="0" smtClean="0"/>
              <a:t>Decreasing</a:t>
            </a:r>
            <a:r>
              <a:rPr lang="zh-CN" altLang="en-US" dirty="0" smtClean="0"/>
              <a:t> </a:t>
            </a:r>
            <a:r>
              <a:rPr lang="en-US" altLang="zh-CN" dirty="0" smtClean="0"/>
              <a:t>sales</a:t>
            </a:r>
            <a:r>
              <a:rPr lang="zh-CN" altLang="en-US" dirty="0" smtClean="0"/>
              <a:t> </a:t>
            </a:r>
            <a:r>
              <a:rPr lang="en-US" altLang="zh-CN" dirty="0" smtClean="0"/>
              <a:t>in</a:t>
            </a:r>
            <a:r>
              <a:rPr lang="zh-CN" altLang="en-US" dirty="0" smtClean="0"/>
              <a:t> </a:t>
            </a:r>
            <a:r>
              <a:rPr lang="en-US" altLang="zh-CN" dirty="0" smtClean="0"/>
              <a:t>mature</a:t>
            </a:r>
          </a:p>
          <a:p>
            <a:pPr marL="342900" indent="-342900">
              <a:buFont typeface="+mj-lt"/>
              <a:buAutoNum type="arabicPeriod"/>
            </a:pPr>
            <a:r>
              <a:rPr lang="en-US" altLang="zh-CN" dirty="0" smtClean="0"/>
              <a:t>Low</a:t>
            </a:r>
            <a:r>
              <a:rPr lang="zh-CN" altLang="en-US" dirty="0" smtClean="0"/>
              <a:t> </a:t>
            </a:r>
            <a:r>
              <a:rPr lang="en-US" altLang="zh-CN" dirty="0" smtClean="0"/>
              <a:t>staff</a:t>
            </a:r>
            <a:r>
              <a:rPr lang="zh-CN" altLang="en-US" dirty="0" smtClean="0"/>
              <a:t> </a:t>
            </a:r>
            <a:r>
              <a:rPr lang="en-US" altLang="zh-CN" dirty="0" smtClean="0"/>
              <a:t>retention</a:t>
            </a:r>
          </a:p>
          <a:p>
            <a:pPr marL="342900" indent="-342900">
              <a:buFont typeface="+mj-lt"/>
              <a:buAutoNum type="arabicPeriod"/>
            </a:pPr>
            <a:r>
              <a:rPr lang="en-US" altLang="zh-CN" dirty="0" smtClean="0"/>
              <a:t>Lesser</a:t>
            </a:r>
            <a:r>
              <a:rPr lang="zh-CN" altLang="en-US" dirty="0" smtClean="0"/>
              <a:t> </a:t>
            </a:r>
            <a:r>
              <a:rPr lang="en-US" altLang="zh-CN" dirty="0" smtClean="0"/>
              <a:t>number</a:t>
            </a:r>
            <a:r>
              <a:rPr lang="zh-CN" altLang="en-US" dirty="0" smtClean="0"/>
              <a:t> </a:t>
            </a:r>
            <a:r>
              <a:rPr lang="en-US" altLang="zh-CN" dirty="0" smtClean="0"/>
              <a:t>of</a:t>
            </a:r>
            <a:r>
              <a:rPr lang="zh-CN" altLang="en-US" dirty="0" smtClean="0"/>
              <a:t> </a:t>
            </a:r>
            <a:r>
              <a:rPr lang="en-US" altLang="zh-CN" dirty="0" smtClean="0"/>
              <a:t>eateries</a:t>
            </a:r>
            <a:endParaRPr lang="en-US" dirty="0"/>
          </a:p>
        </p:txBody>
      </p:sp>
      <p:sp>
        <p:nvSpPr>
          <p:cNvPr id="6" name="Text Placeholder 5"/>
          <p:cNvSpPr>
            <a:spLocks noGrp="1"/>
          </p:cNvSpPr>
          <p:nvPr>
            <p:ph type="body" sz="quarter" idx="3"/>
          </p:nvPr>
        </p:nvSpPr>
        <p:spPr/>
        <p:txBody>
          <a:bodyPr/>
          <a:lstStyle/>
          <a:p>
            <a:r>
              <a:rPr lang="en-US" altLang="zh-CN" dirty="0" smtClean="0"/>
              <a:t>Threats</a:t>
            </a:r>
            <a:endParaRPr lang="en-US" dirty="0"/>
          </a:p>
        </p:txBody>
      </p:sp>
      <p:sp>
        <p:nvSpPr>
          <p:cNvPr id="9" name="Content Placeholder 8"/>
          <p:cNvSpPr>
            <a:spLocks noGrp="1"/>
          </p:cNvSpPr>
          <p:nvPr>
            <p:ph sz="quarter" idx="4"/>
          </p:nvPr>
        </p:nvSpPr>
        <p:spPr/>
        <p:txBody>
          <a:bodyPr/>
          <a:lstStyle/>
          <a:p>
            <a:pPr marL="342900" indent="-342900">
              <a:buFont typeface="+mj-lt"/>
              <a:buAutoNum type="arabicPeriod"/>
            </a:pPr>
            <a:r>
              <a:rPr lang="en-US" altLang="zh-CN" dirty="0" smtClean="0"/>
              <a:t>Direct</a:t>
            </a:r>
            <a:r>
              <a:rPr lang="zh-CN" altLang="en-US" dirty="0" smtClean="0"/>
              <a:t> </a:t>
            </a:r>
            <a:r>
              <a:rPr lang="en-US" altLang="zh-CN" dirty="0" smtClean="0"/>
              <a:t>and</a:t>
            </a:r>
            <a:r>
              <a:rPr lang="zh-CN" altLang="en-US" dirty="0" smtClean="0"/>
              <a:t> </a:t>
            </a:r>
            <a:r>
              <a:rPr lang="en-US" altLang="zh-CN" dirty="0" smtClean="0"/>
              <a:t>Indirect</a:t>
            </a:r>
            <a:r>
              <a:rPr lang="zh-CN" altLang="en-US" dirty="0" smtClean="0"/>
              <a:t> </a:t>
            </a:r>
            <a:r>
              <a:rPr lang="en-US" altLang="zh-CN" dirty="0" smtClean="0"/>
              <a:t>Competition</a:t>
            </a:r>
          </a:p>
          <a:p>
            <a:pPr marL="342900" indent="-342900">
              <a:buFont typeface="+mj-lt"/>
              <a:buAutoNum type="arabicPeriod"/>
            </a:pPr>
            <a:r>
              <a:rPr lang="en-US" altLang="zh-CN" dirty="0" smtClean="0"/>
              <a:t>Changing</a:t>
            </a:r>
            <a:r>
              <a:rPr lang="zh-CN" altLang="en-US" dirty="0" smtClean="0"/>
              <a:t> </a:t>
            </a:r>
            <a:r>
              <a:rPr lang="en-US" altLang="zh-CN" dirty="0" smtClean="0"/>
              <a:t>Consumer</a:t>
            </a:r>
            <a:r>
              <a:rPr lang="zh-CN" altLang="en-US" dirty="0" smtClean="0"/>
              <a:t> </a:t>
            </a:r>
            <a:r>
              <a:rPr lang="en-US" altLang="zh-CN" dirty="0" smtClean="0"/>
              <a:t>Eating</a:t>
            </a:r>
            <a:r>
              <a:rPr lang="zh-CN" altLang="en-US" dirty="0" smtClean="0"/>
              <a:t> </a:t>
            </a:r>
            <a:r>
              <a:rPr lang="en-US" altLang="zh-CN" dirty="0" smtClean="0"/>
              <a:t>habits</a:t>
            </a:r>
          </a:p>
          <a:p>
            <a:pPr marL="342900" indent="-342900">
              <a:buFont typeface="+mj-lt"/>
              <a:buAutoNum type="arabicPeriod"/>
            </a:pPr>
            <a:r>
              <a:rPr lang="en-US" altLang="zh-CN" dirty="0" smtClean="0"/>
              <a:t>Cost</a:t>
            </a:r>
            <a:endParaRPr lang="en-US" dirty="0"/>
          </a:p>
        </p:txBody>
      </p:sp>
    </p:spTree>
    <p:extLst>
      <p:ext uri="{BB962C8B-B14F-4D97-AF65-F5344CB8AC3E}">
        <p14:creationId xmlns:p14="http://schemas.microsoft.com/office/powerpoint/2010/main" val="15873403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484311" y="685800"/>
            <a:ext cx="10018713" cy="1039091"/>
          </a:xfrm>
        </p:spPr>
        <p:txBody>
          <a:bodyPr/>
          <a:lstStyle/>
          <a:p>
            <a:r>
              <a:rPr lang="en-US" dirty="0" smtClean="0"/>
              <a:t>DOMESTIC MARKET COMPARISON</a:t>
            </a:r>
            <a:endParaRPr lang="en-US" dirty="0"/>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1221638959"/>
              </p:ext>
            </p:extLst>
          </p:nvPr>
        </p:nvGraphicFramePr>
        <p:xfrm>
          <a:off x="1484311" y="1724891"/>
          <a:ext cx="4729453" cy="3124199"/>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p:cNvSpPr txBox="1"/>
          <p:nvPr/>
        </p:nvSpPr>
        <p:spPr>
          <a:xfrm>
            <a:off x="1484311" y="5140082"/>
            <a:ext cx="7461569" cy="1015663"/>
          </a:xfrm>
          <a:prstGeom prst="rect">
            <a:avLst/>
          </a:prstGeom>
          <a:noFill/>
        </p:spPr>
        <p:txBody>
          <a:bodyPr wrap="square" rtlCol="0">
            <a:spAutoFit/>
          </a:bodyPr>
          <a:lstStyle/>
          <a:p>
            <a:pPr marL="285750" indent="-285750">
              <a:buFont typeface="Wingdings" charset="2"/>
              <a:buChar char="Ø"/>
            </a:pPr>
            <a:r>
              <a:rPr lang="en-US" sz="2000" dirty="0" smtClean="0"/>
              <a:t>They have more stores than us</a:t>
            </a:r>
          </a:p>
          <a:p>
            <a:pPr marL="285750" indent="-285750">
              <a:buFont typeface="Wingdings" charset="2"/>
              <a:buChar char="Ø"/>
            </a:pPr>
            <a:r>
              <a:rPr lang="en-US" sz="2000" dirty="0" smtClean="0"/>
              <a:t>Their expansion is quicker than us</a:t>
            </a:r>
          </a:p>
          <a:p>
            <a:pPr marL="285750" indent="-285750">
              <a:buFont typeface="Wingdings" charset="2"/>
              <a:buChar char="Ø"/>
            </a:pPr>
            <a:r>
              <a:rPr lang="en-US" sz="2000" dirty="0" smtClean="0"/>
              <a:t>However, the income disparities between us kept same</a:t>
            </a:r>
            <a:endParaRPr lang="en-US" sz="2000" dirty="0"/>
          </a:p>
        </p:txBody>
      </p:sp>
      <p:graphicFrame>
        <p:nvGraphicFramePr>
          <p:cNvPr id="15" name="Chart 14"/>
          <p:cNvGraphicFramePr>
            <a:graphicFrameLocks/>
          </p:cNvGraphicFramePr>
          <p:nvPr>
            <p:extLst>
              <p:ext uri="{D42A27DB-BD31-4B8C-83A1-F6EECF244321}">
                <p14:modId xmlns:p14="http://schemas.microsoft.com/office/powerpoint/2010/main" val="1498462034"/>
              </p:ext>
            </p:extLst>
          </p:nvPr>
        </p:nvGraphicFramePr>
        <p:xfrm>
          <a:off x="6213764" y="1745717"/>
          <a:ext cx="5289260" cy="31033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702216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INTERNATIONAL MARKET COMPARISON</a:t>
            </a:r>
            <a:endParaRPr lang="en-US" dirty="0"/>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832574748"/>
              </p:ext>
            </p:extLst>
          </p:nvPr>
        </p:nvGraphicFramePr>
        <p:xfrm>
          <a:off x="1484310" y="1965960"/>
          <a:ext cx="4894262" cy="3124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ontent Placeholder 6"/>
          <p:cNvGraphicFramePr>
            <a:graphicFrameLocks noGrp="1"/>
          </p:cNvGraphicFramePr>
          <p:nvPr>
            <p:ph sz="half" idx="2"/>
            <p:extLst>
              <p:ext uri="{D42A27DB-BD31-4B8C-83A1-F6EECF244321}">
                <p14:modId xmlns:p14="http://schemas.microsoft.com/office/powerpoint/2010/main" val="80345784"/>
              </p:ext>
            </p:extLst>
          </p:nvPr>
        </p:nvGraphicFramePr>
        <p:xfrm>
          <a:off x="6607174" y="1965960"/>
          <a:ext cx="4895850" cy="31242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p:cNvSpPr txBox="1"/>
          <p:nvPr/>
        </p:nvSpPr>
        <p:spPr>
          <a:xfrm>
            <a:off x="1484310" y="5257800"/>
            <a:ext cx="7766369" cy="646331"/>
          </a:xfrm>
          <a:prstGeom prst="rect">
            <a:avLst/>
          </a:prstGeom>
          <a:noFill/>
        </p:spPr>
        <p:txBody>
          <a:bodyPr wrap="square" rtlCol="0">
            <a:spAutoFit/>
          </a:bodyPr>
          <a:lstStyle/>
          <a:p>
            <a:pPr marL="285750" indent="-285750">
              <a:buFont typeface="Wingdings" charset="2"/>
              <a:buChar char="Ø"/>
            </a:pPr>
            <a:r>
              <a:rPr lang="en-US" dirty="0" smtClean="0"/>
              <a:t>Our </a:t>
            </a:r>
            <a:r>
              <a:rPr lang="en-US" smtClean="0"/>
              <a:t>international stores’ number </a:t>
            </a:r>
            <a:r>
              <a:rPr lang="en-US" dirty="0" smtClean="0"/>
              <a:t>are almost 8 times </a:t>
            </a:r>
            <a:r>
              <a:rPr lang="en-US" smtClean="0"/>
              <a:t>more than Papa </a:t>
            </a:r>
            <a:r>
              <a:rPr lang="en-US" dirty="0" smtClean="0"/>
              <a:t>John’s</a:t>
            </a:r>
          </a:p>
          <a:p>
            <a:pPr marL="285750" indent="-285750">
              <a:buFont typeface="Wingdings" charset="2"/>
              <a:buChar char="Ø"/>
            </a:pPr>
            <a:r>
              <a:rPr lang="en-US" dirty="0" smtClean="0"/>
              <a:t>Domino’s international stores have more profit margin than Papa John’s</a:t>
            </a:r>
            <a:endParaRPr lang="en-US" dirty="0"/>
          </a:p>
        </p:txBody>
      </p:sp>
    </p:spTree>
    <p:extLst>
      <p:ext uri="{BB962C8B-B14F-4D97-AF65-F5344CB8AC3E}">
        <p14:creationId xmlns:p14="http://schemas.microsoft.com/office/powerpoint/2010/main" val="8634590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05576" y="426368"/>
            <a:ext cx="10018713" cy="1270591"/>
          </a:xfrm>
        </p:spPr>
        <p:txBody>
          <a:bodyPr/>
          <a:lstStyle/>
          <a:p>
            <a:r>
              <a:rPr lang="en-US" dirty="0" smtClean="0"/>
              <a:t>Regression analysis(domestic market)</a:t>
            </a:r>
            <a:endParaRPr lang="en-US" dirty="0"/>
          </a:p>
        </p:txBody>
      </p:sp>
      <p:pic>
        <p:nvPicPr>
          <p:cNvPr id="7" name="Content Placeholder 6"/>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424223" y="1696959"/>
            <a:ext cx="3593747" cy="3525758"/>
          </a:xfrm>
        </p:spPr>
      </p:pic>
      <p:pic>
        <p:nvPicPr>
          <p:cNvPr id="8" name="Content Placeholder 7"/>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936617" y="1696959"/>
            <a:ext cx="3593748" cy="3525758"/>
          </a:xfrm>
        </p:spPr>
      </p:pic>
      <p:sp>
        <p:nvSpPr>
          <p:cNvPr id="2" name="TextBox 1"/>
          <p:cNvSpPr txBox="1"/>
          <p:nvPr/>
        </p:nvSpPr>
        <p:spPr>
          <a:xfrm>
            <a:off x="2424223" y="5380074"/>
            <a:ext cx="9735166" cy="1477328"/>
          </a:xfrm>
          <a:prstGeom prst="rect">
            <a:avLst/>
          </a:prstGeom>
          <a:noFill/>
        </p:spPr>
        <p:txBody>
          <a:bodyPr wrap="none" rtlCol="0">
            <a:spAutoFit/>
          </a:bodyPr>
          <a:lstStyle/>
          <a:p>
            <a:pPr marL="285750" indent="-285750">
              <a:buFont typeface="Wingdings" charset="2"/>
              <a:buChar char="Ø"/>
            </a:pPr>
            <a:r>
              <a:rPr lang="en-US" dirty="0" smtClean="0"/>
              <a:t>The number of our domestic stores are increasing</a:t>
            </a:r>
          </a:p>
          <a:p>
            <a:pPr marL="285750" indent="-285750">
              <a:buFont typeface="Wingdings" charset="2"/>
              <a:buChar char="Ø"/>
            </a:pPr>
            <a:r>
              <a:rPr lang="en-US" dirty="0"/>
              <a:t>C</a:t>
            </a:r>
            <a:r>
              <a:rPr lang="en-US" dirty="0" smtClean="0"/>
              <a:t>ompany-owned stores play a more important role in domestic revenues</a:t>
            </a:r>
          </a:p>
          <a:p>
            <a:pPr marL="285750" indent="-285750">
              <a:buFont typeface="Wingdings" charset="2"/>
              <a:buChar char="Ø"/>
            </a:pPr>
            <a:r>
              <a:rPr lang="en-US" dirty="0" smtClean="0"/>
              <a:t>More franchise stores means more revenue.</a:t>
            </a:r>
          </a:p>
          <a:p>
            <a:pPr marL="285750" indent="-285750">
              <a:buFont typeface="Wingdings" charset="2"/>
              <a:buChar char="Ø"/>
            </a:pPr>
            <a:r>
              <a:rPr lang="en-US" dirty="0"/>
              <a:t>Y</a:t>
            </a:r>
            <a:r>
              <a:rPr lang="en-US" dirty="0" smtClean="0"/>
              <a:t> = 2.355X - 540.445, where Y = company-owned stores revenue, X = total company-owned stores</a:t>
            </a:r>
          </a:p>
          <a:p>
            <a:pPr marL="285750" indent="-285750">
              <a:buFont typeface="Wingdings" charset="2"/>
              <a:buChar char="Ø"/>
            </a:pPr>
            <a:r>
              <a:rPr lang="en-US" dirty="0" smtClean="0"/>
              <a:t>Z = 0.269P  - 1026.328, where Y = franchise stores revenue, P = total domestic franchise stores</a:t>
            </a:r>
            <a:endParaRPr lang="en-US" dirty="0"/>
          </a:p>
        </p:txBody>
      </p:sp>
    </p:spTree>
    <p:extLst>
      <p:ext uri="{BB962C8B-B14F-4D97-AF65-F5344CB8AC3E}">
        <p14:creationId xmlns:p14="http://schemas.microsoft.com/office/powerpoint/2010/main" val="16084102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84312" y="1741524"/>
            <a:ext cx="3549121" cy="937880"/>
          </a:xfrm>
        </p:spPr>
        <p:txBody>
          <a:bodyPr>
            <a:noAutofit/>
          </a:bodyPr>
          <a:lstStyle/>
          <a:p>
            <a:r>
              <a:rPr lang="en-US" sz="2800" dirty="0" smtClean="0"/>
              <a:t>Regression analysis (International market)</a:t>
            </a:r>
            <a:endParaRPr lang="en-US" sz="2800" dirty="0"/>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03088" y="784593"/>
            <a:ext cx="5011978" cy="4917157"/>
          </a:xfrm>
        </p:spPr>
      </p:pic>
      <p:sp>
        <p:nvSpPr>
          <p:cNvPr id="7" name="Text Placeholder 6"/>
          <p:cNvSpPr>
            <a:spLocks noGrp="1"/>
          </p:cNvSpPr>
          <p:nvPr>
            <p:ph type="body" sz="half" idx="2"/>
          </p:nvPr>
        </p:nvSpPr>
        <p:spPr>
          <a:xfrm>
            <a:off x="1484312" y="2679404"/>
            <a:ext cx="3549122" cy="2651937"/>
          </a:xfrm>
        </p:spPr>
        <p:txBody>
          <a:bodyPr>
            <a:normAutofit/>
          </a:bodyPr>
          <a:lstStyle/>
          <a:p>
            <a:pPr marL="285750" indent="-285750">
              <a:buFont typeface="Wingdings" charset="2"/>
              <a:buChar char="Ø"/>
            </a:pPr>
            <a:r>
              <a:rPr lang="en-US" sz="1800" dirty="0" smtClean="0"/>
              <a:t>More stores means more sales</a:t>
            </a:r>
          </a:p>
          <a:p>
            <a:pPr marL="285750" indent="-285750">
              <a:buFont typeface="Wingdings" charset="2"/>
              <a:buChar char="Ø"/>
            </a:pPr>
            <a:r>
              <a:rPr lang="en-US" sz="1800" dirty="0"/>
              <a:t>M</a:t>
            </a:r>
            <a:r>
              <a:rPr lang="en-US" sz="1800" dirty="0" smtClean="0"/>
              <a:t>ore sales bring more revenues</a:t>
            </a:r>
          </a:p>
          <a:p>
            <a:pPr marL="285750" indent="-285750">
              <a:buFont typeface="Wingdings" charset="2"/>
              <a:buChar char="Ø"/>
            </a:pPr>
            <a:r>
              <a:rPr lang="en-US" sz="1800" dirty="0" smtClean="0"/>
              <a:t>The number of our international franchise stores is growing steady</a:t>
            </a:r>
          </a:p>
        </p:txBody>
      </p:sp>
      <p:sp>
        <p:nvSpPr>
          <p:cNvPr id="2" name="TextBox 1"/>
          <p:cNvSpPr txBox="1"/>
          <p:nvPr/>
        </p:nvSpPr>
        <p:spPr>
          <a:xfrm>
            <a:off x="1822204" y="5828117"/>
            <a:ext cx="8908016" cy="707886"/>
          </a:xfrm>
          <a:prstGeom prst="rect">
            <a:avLst/>
          </a:prstGeom>
          <a:noFill/>
        </p:spPr>
        <p:txBody>
          <a:bodyPr wrap="none" rtlCol="0">
            <a:spAutoFit/>
          </a:bodyPr>
          <a:lstStyle/>
          <a:p>
            <a:pPr marL="342900" indent="-342900">
              <a:buFont typeface="Wingdings" charset="2"/>
              <a:buChar char="Ø"/>
            </a:pPr>
            <a:r>
              <a:rPr lang="en-US" sz="2000" dirty="0" smtClean="0"/>
              <a:t>Y($m) = 0.01839X + 26.00919, where Y = international franchise stores’ revenue,</a:t>
            </a:r>
          </a:p>
          <a:p>
            <a:r>
              <a:rPr lang="en-US" sz="2000" dirty="0"/>
              <a:t>	</a:t>
            </a:r>
            <a:r>
              <a:rPr lang="en-US" sz="2000" dirty="0" smtClean="0"/>
              <a:t>				 X = international franchise stores</a:t>
            </a:r>
            <a:endParaRPr lang="en-US" sz="2000" dirty="0"/>
          </a:p>
        </p:txBody>
      </p:sp>
    </p:spTree>
    <p:extLst>
      <p:ext uri="{BB962C8B-B14F-4D97-AF65-F5344CB8AC3E}">
        <p14:creationId xmlns:p14="http://schemas.microsoft.com/office/powerpoint/2010/main" val="3280328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84312" y="1600200"/>
            <a:ext cx="3549121" cy="760228"/>
          </a:xfrm>
        </p:spPr>
        <p:txBody>
          <a:bodyPr>
            <a:normAutofit/>
          </a:bodyPr>
          <a:lstStyle/>
          <a:p>
            <a:r>
              <a:rPr lang="en-US" sz="2800" dirty="0" smtClean="0"/>
              <a:t>Twitter word cloud</a:t>
            </a:r>
            <a:endParaRPr lang="en-US" sz="2800"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96744" y="1022350"/>
            <a:ext cx="5372100" cy="4432300"/>
          </a:xfrm>
        </p:spPr>
      </p:pic>
      <p:sp>
        <p:nvSpPr>
          <p:cNvPr id="7" name="Text Placeholder 6"/>
          <p:cNvSpPr>
            <a:spLocks noGrp="1"/>
          </p:cNvSpPr>
          <p:nvPr>
            <p:ph type="body" sz="half" idx="2"/>
          </p:nvPr>
        </p:nvSpPr>
        <p:spPr>
          <a:xfrm>
            <a:off x="1484312" y="3238500"/>
            <a:ext cx="3549121" cy="1828800"/>
          </a:xfrm>
        </p:spPr>
        <p:txBody>
          <a:bodyPr>
            <a:normAutofit/>
          </a:bodyPr>
          <a:lstStyle/>
          <a:p>
            <a:pPr marL="285750" indent="-285750">
              <a:buFont typeface="Wingdings" charset="2"/>
              <a:buChar char="Ø"/>
            </a:pPr>
            <a:r>
              <a:rPr lang="en-US" sz="2000" dirty="0" smtClean="0"/>
              <a:t>As we can see there, there are many words like “</a:t>
            </a:r>
            <a:r>
              <a:rPr lang="en-US" sz="2000" dirty="0" err="1" smtClean="0"/>
              <a:t>pls</a:t>
            </a:r>
            <a:r>
              <a:rPr lang="en-US" sz="2000" dirty="0" smtClean="0"/>
              <a:t>”, “help” and “sorry”</a:t>
            </a:r>
          </a:p>
          <a:p>
            <a:pPr marL="285750" indent="-285750">
              <a:buFont typeface="Wingdings" charset="2"/>
              <a:buChar char="Ø"/>
            </a:pPr>
            <a:r>
              <a:rPr lang="en-US" sz="2000" dirty="0"/>
              <a:t>T</a:t>
            </a:r>
            <a:r>
              <a:rPr lang="en-US" sz="2000" dirty="0" smtClean="0"/>
              <a:t>his means we still need to improve our services</a:t>
            </a:r>
            <a:endParaRPr lang="en-US" sz="2000" dirty="0"/>
          </a:p>
        </p:txBody>
      </p:sp>
    </p:spTree>
    <p:extLst>
      <p:ext uri="{BB962C8B-B14F-4D97-AF65-F5344CB8AC3E}">
        <p14:creationId xmlns:p14="http://schemas.microsoft.com/office/powerpoint/2010/main" val="657924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84312" y="1600200"/>
            <a:ext cx="3549121" cy="1015409"/>
          </a:xfrm>
        </p:spPr>
        <p:txBody>
          <a:bodyPr>
            <a:normAutofit/>
          </a:bodyPr>
          <a:lstStyle/>
          <a:p>
            <a:r>
              <a:rPr lang="en-US" sz="2800" dirty="0" smtClean="0"/>
              <a:t>Sentiment analysis based on Tweets</a:t>
            </a:r>
            <a:endParaRPr lang="en-US" sz="2800"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62563" y="816355"/>
            <a:ext cx="6240462" cy="4844290"/>
          </a:xfrm>
        </p:spPr>
      </p:pic>
      <p:sp>
        <p:nvSpPr>
          <p:cNvPr id="7" name="Text Placeholder 6"/>
          <p:cNvSpPr>
            <a:spLocks noGrp="1"/>
          </p:cNvSpPr>
          <p:nvPr>
            <p:ph type="body" sz="half" idx="2"/>
          </p:nvPr>
        </p:nvSpPr>
        <p:spPr/>
        <p:txBody>
          <a:bodyPr>
            <a:normAutofit/>
          </a:bodyPr>
          <a:lstStyle/>
          <a:p>
            <a:r>
              <a:rPr lang="en-US" sz="1800" dirty="0" smtClean="0"/>
              <a:t>We can see there are more than half tweets positive. However, we still need to improve our services.</a:t>
            </a:r>
            <a:endParaRPr lang="en-US" sz="1800" dirty="0"/>
          </a:p>
        </p:txBody>
      </p:sp>
    </p:spTree>
    <p:extLst>
      <p:ext uri="{BB962C8B-B14F-4D97-AF65-F5344CB8AC3E}">
        <p14:creationId xmlns:p14="http://schemas.microsoft.com/office/powerpoint/2010/main" val="916785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2800" dirty="0" smtClean="0"/>
              <a:t>Twitter analysis(Word frequency)</a:t>
            </a:r>
            <a:endParaRPr lang="en-US" sz="2800"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42781" y="903134"/>
            <a:ext cx="6216471" cy="5128956"/>
          </a:xfrm>
        </p:spPr>
      </p:pic>
      <p:sp>
        <p:nvSpPr>
          <p:cNvPr id="7" name="Text Placeholder 6"/>
          <p:cNvSpPr>
            <a:spLocks noGrp="1"/>
          </p:cNvSpPr>
          <p:nvPr>
            <p:ph type="body" sz="half" idx="2"/>
          </p:nvPr>
        </p:nvSpPr>
        <p:spPr>
          <a:xfrm>
            <a:off x="1484312" y="3312043"/>
            <a:ext cx="3549121" cy="1828800"/>
          </a:xfrm>
        </p:spPr>
        <p:txBody>
          <a:bodyPr>
            <a:noAutofit/>
          </a:bodyPr>
          <a:lstStyle/>
          <a:p>
            <a:pPr marL="285750" indent="-285750" algn="l">
              <a:buFont typeface="Wingdings" charset="2"/>
              <a:buChar char="Ø"/>
            </a:pPr>
            <a:r>
              <a:rPr lang="en-US" sz="2000" dirty="0" smtClean="0"/>
              <a:t>Services! Services! Services!</a:t>
            </a:r>
          </a:p>
          <a:p>
            <a:pPr marL="285750" indent="-285750" algn="l">
              <a:buFont typeface="Wingdings" charset="2"/>
              <a:buChar char="Ø"/>
            </a:pPr>
            <a:r>
              <a:rPr lang="en-US" sz="2000" dirty="0" smtClean="0"/>
              <a:t>Most of our Twitter replies are solving complains.</a:t>
            </a:r>
          </a:p>
          <a:p>
            <a:pPr marL="285750" indent="-285750" algn="l">
              <a:buFont typeface="Wingdings" charset="2"/>
              <a:buChar char="Ø"/>
            </a:pPr>
            <a:r>
              <a:rPr lang="en-US" sz="2000" dirty="0" smtClean="0"/>
              <a:t>None of tweets show about our food quality. (all about services)</a:t>
            </a:r>
          </a:p>
        </p:txBody>
      </p:sp>
      <p:sp>
        <p:nvSpPr>
          <p:cNvPr id="12" name="Oval 11"/>
          <p:cNvSpPr/>
          <p:nvPr/>
        </p:nvSpPr>
        <p:spPr>
          <a:xfrm>
            <a:off x="5859925" y="1932039"/>
            <a:ext cx="722671" cy="353961"/>
          </a:xfrm>
          <a:prstGeom prst="ellipse">
            <a:avLst/>
          </a:prstGeom>
          <a:solidFill>
            <a:srgbClr val="FF0000">
              <a:alpha val="0"/>
            </a:srgbClr>
          </a:solid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94200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Conclusion</a:t>
            </a:r>
            <a:endParaRPr lang="en-US" dirty="0"/>
          </a:p>
        </p:txBody>
      </p:sp>
      <p:sp>
        <p:nvSpPr>
          <p:cNvPr id="5" name="Content Placeholder 4"/>
          <p:cNvSpPr>
            <a:spLocks noGrp="1"/>
          </p:cNvSpPr>
          <p:nvPr>
            <p:ph idx="1"/>
          </p:nvPr>
        </p:nvSpPr>
        <p:spPr/>
        <p:txBody>
          <a:bodyPr/>
          <a:lstStyle/>
          <a:p>
            <a:pPr>
              <a:buFont typeface="Wingdings" charset="2"/>
              <a:buChar char="Ø"/>
            </a:pPr>
            <a:r>
              <a:rPr lang="en-US" dirty="0" smtClean="0"/>
              <a:t>We should use our brand influences to expand market. (Both Domestic and International)</a:t>
            </a:r>
          </a:p>
          <a:p>
            <a:pPr lvl="1">
              <a:buFont typeface="Wingdings" charset="2"/>
              <a:buChar char="Ø"/>
            </a:pPr>
            <a:r>
              <a:rPr lang="en-US" dirty="0"/>
              <a:t>For domestic market, we should have more franchise stores to get more </a:t>
            </a:r>
            <a:r>
              <a:rPr lang="en-US" dirty="0" smtClean="0"/>
              <a:t>revenues</a:t>
            </a:r>
          </a:p>
          <a:p>
            <a:pPr>
              <a:buFont typeface="Wingdings" charset="2"/>
              <a:buChar char="Ø"/>
            </a:pPr>
            <a:r>
              <a:rPr lang="en-US" dirty="0" smtClean="0"/>
              <a:t>We should keep our brand competitive in international market</a:t>
            </a:r>
            <a:endParaRPr lang="en-US" dirty="0"/>
          </a:p>
          <a:p>
            <a:pPr>
              <a:buFont typeface="Wingdings" charset="2"/>
              <a:buChar char="Ø"/>
            </a:pPr>
            <a:r>
              <a:rPr lang="en-US" dirty="0" smtClean="0"/>
              <a:t>We should put more effort on services</a:t>
            </a:r>
          </a:p>
        </p:txBody>
      </p:sp>
    </p:spTree>
    <p:extLst>
      <p:ext uri="{BB962C8B-B14F-4D97-AF65-F5344CB8AC3E}">
        <p14:creationId xmlns:p14="http://schemas.microsoft.com/office/powerpoint/2010/main" val="19977723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Reference</a:t>
            </a:r>
            <a:endParaRPr lang="en-US" dirty="0"/>
          </a:p>
        </p:txBody>
      </p:sp>
      <p:sp>
        <p:nvSpPr>
          <p:cNvPr id="5" name="Content Placeholder 4"/>
          <p:cNvSpPr>
            <a:spLocks noGrp="1"/>
          </p:cNvSpPr>
          <p:nvPr>
            <p:ph idx="1"/>
          </p:nvPr>
        </p:nvSpPr>
        <p:spPr/>
        <p:txBody>
          <a:bodyPr>
            <a:normAutofit fontScale="77500" lnSpcReduction="20000"/>
          </a:bodyPr>
          <a:lstStyle/>
          <a:p>
            <a:pPr>
              <a:buFont typeface="Wingdings" charset="2"/>
              <a:buChar char="Ø"/>
            </a:pPr>
            <a:r>
              <a:rPr lang="en-US" altLang="zh-CN" dirty="0"/>
              <a:t>Domino’s</a:t>
            </a:r>
            <a:r>
              <a:rPr lang="zh-CN" altLang="en-US" dirty="0"/>
              <a:t> </a:t>
            </a:r>
            <a:r>
              <a:rPr lang="en-US" altLang="zh-CN" dirty="0"/>
              <a:t>Pizza,</a:t>
            </a:r>
            <a:r>
              <a:rPr lang="zh-CN" altLang="en-US" dirty="0"/>
              <a:t> </a:t>
            </a:r>
            <a:r>
              <a:rPr lang="en-US" altLang="zh-CN" dirty="0"/>
              <a:t>Inc.</a:t>
            </a:r>
            <a:r>
              <a:rPr lang="zh-CN" altLang="en-US" dirty="0"/>
              <a:t> </a:t>
            </a:r>
            <a:r>
              <a:rPr lang="en-US" altLang="zh-CN" dirty="0"/>
              <a:t>2016</a:t>
            </a:r>
            <a:r>
              <a:rPr lang="zh-CN" altLang="en-US" dirty="0"/>
              <a:t> </a:t>
            </a:r>
            <a:r>
              <a:rPr lang="en-US" altLang="zh-CN" dirty="0"/>
              <a:t>Annual</a:t>
            </a:r>
            <a:r>
              <a:rPr lang="zh-CN" altLang="en-US" dirty="0"/>
              <a:t> </a:t>
            </a:r>
            <a:r>
              <a:rPr lang="en-US" altLang="zh-CN" dirty="0"/>
              <a:t>report.</a:t>
            </a:r>
            <a:r>
              <a:rPr lang="zh-CN" altLang="en-US" dirty="0"/>
              <a:t> </a:t>
            </a:r>
            <a:r>
              <a:rPr lang="en-US" altLang="zh-CN" dirty="0"/>
              <a:t>Retrieved</a:t>
            </a:r>
            <a:r>
              <a:rPr lang="zh-CN" altLang="en-US" dirty="0"/>
              <a:t> </a:t>
            </a:r>
            <a:r>
              <a:rPr lang="en-US" altLang="zh-CN" dirty="0"/>
              <a:t>from:</a:t>
            </a:r>
            <a:r>
              <a:rPr lang="zh-CN" altLang="en-US" dirty="0"/>
              <a:t> </a:t>
            </a:r>
            <a:r>
              <a:rPr lang="en-US" altLang="zh-CN" dirty="0"/>
              <a:t>http://</a:t>
            </a:r>
            <a:r>
              <a:rPr lang="en-US" altLang="zh-CN" dirty="0" err="1"/>
              <a:t>phx.corporate-ir.net</a:t>
            </a:r>
            <a:r>
              <a:rPr lang="en-US" altLang="zh-CN" dirty="0"/>
              <a:t>/</a:t>
            </a:r>
            <a:r>
              <a:rPr lang="en-US" altLang="zh-CN" dirty="0" err="1"/>
              <a:t>phoenix.zhtml?c</a:t>
            </a:r>
            <a:r>
              <a:rPr lang="en-US" altLang="zh-CN" dirty="0"/>
              <a:t>=135383&amp;p=</a:t>
            </a:r>
            <a:r>
              <a:rPr lang="en-US" altLang="zh-CN" dirty="0" err="1"/>
              <a:t>irol-reportsannual</a:t>
            </a:r>
            <a:endParaRPr lang="en-US" dirty="0"/>
          </a:p>
          <a:p>
            <a:pPr>
              <a:buFont typeface="Wingdings" charset="2"/>
              <a:buChar char="Ø"/>
            </a:pPr>
            <a:r>
              <a:rPr lang="en-US" dirty="0"/>
              <a:t>Domino‘s Pizza, Inc. - Company Profile, Information, Business Description, History, Background Information on Domino’s Pizza, Inc.</a:t>
            </a:r>
            <a:br>
              <a:rPr lang="en-US" dirty="0"/>
            </a:br>
            <a:r>
              <a:rPr lang="en-US" altLang="zh-CN" dirty="0"/>
              <a:t>(</a:t>
            </a:r>
            <a:r>
              <a:rPr lang="en-US" altLang="zh-CN" dirty="0" err="1"/>
              <a:t>n.d.</a:t>
            </a:r>
            <a:r>
              <a:rPr lang="en-US" altLang="zh-CN" dirty="0"/>
              <a:t>).</a:t>
            </a:r>
            <a:r>
              <a:rPr lang="zh-CN" altLang="en-US" dirty="0"/>
              <a:t> </a:t>
            </a:r>
            <a:r>
              <a:rPr lang="en-US" altLang="zh-CN" dirty="0"/>
              <a:t>Retrieved</a:t>
            </a:r>
            <a:r>
              <a:rPr lang="zh-CN" altLang="en-US" dirty="0"/>
              <a:t> </a:t>
            </a:r>
            <a:r>
              <a:rPr lang="en-US" altLang="zh-CN" dirty="0"/>
              <a:t>from</a:t>
            </a:r>
            <a:r>
              <a:rPr lang="en-US" dirty="0"/>
              <a:t> : </a:t>
            </a:r>
            <a:r>
              <a:rPr lang="en-US" dirty="0">
                <a:hlinkClick r:id="rId3"/>
              </a:rPr>
              <a:t>http://</a:t>
            </a:r>
            <a:r>
              <a:rPr lang="en-US" dirty="0" smtClean="0">
                <a:hlinkClick r:id="rId3"/>
              </a:rPr>
              <a:t>www.referenceforbusiness.com/history2/60/Domino-s-Pizza-Inc.html#ixzz4wtSrDJtD</a:t>
            </a:r>
            <a:endParaRPr lang="en-US" dirty="0" smtClean="0"/>
          </a:p>
          <a:p>
            <a:pPr>
              <a:buFont typeface="Wingdings" charset="2"/>
              <a:buChar char="Ø"/>
            </a:pPr>
            <a:r>
              <a:rPr lang="en-NZ" dirty="0"/>
              <a:t>Essays, UK. (November 2013). Vision And Strategy To Achieve Vision Domino Pizza. Retrieved from https://</a:t>
            </a:r>
            <a:r>
              <a:rPr lang="en-NZ" dirty="0" err="1"/>
              <a:t>www.ukessays.com</a:t>
            </a:r>
            <a:r>
              <a:rPr lang="en-NZ" dirty="0"/>
              <a:t>/essays/management/</a:t>
            </a:r>
            <a:r>
              <a:rPr lang="en-NZ" dirty="0" err="1"/>
              <a:t>vision-and-strategy-to-achieve-vision-domino-pizza.php?cref</a:t>
            </a:r>
            <a:r>
              <a:rPr lang="en-NZ" dirty="0"/>
              <a:t>=1</a:t>
            </a:r>
            <a:endParaRPr lang="en-US" dirty="0"/>
          </a:p>
          <a:p>
            <a:pPr>
              <a:buFont typeface="Wingdings" charset="2"/>
              <a:buChar char="Ø"/>
            </a:pPr>
            <a:r>
              <a:rPr lang="en-US" altLang="zh-CN" dirty="0" smtClean="0"/>
              <a:t>Hitesh</a:t>
            </a:r>
            <a:r>
              <a:rPr lang="zh-CN" altLang="en-US" dirty="0" smtClean="0"/>
              <a:t> </a:t>
            </a:r>
            <a:r>
              <a:rPr lang="en-US" altLang="zh-CN" dirty="0" err="1"/>
              <a:t>Bhasin</a:t>
            </a:r>
            <a:r>
              <a:rPr lang="zh-CN" altLang="en-US" dirty="0"/>
              <a:t> </a:t>
            </a:r>
            <a:r>
              <a:rPr lang="en-US" altLang="zh-CN" dirty="0"/>
              <a:t>(2016).</a:t>
            </a:r>
            <a:r>
              <a:rPr lang="zh-CN" altLang="en-US" dirty="0"/>
              <a:t> </a:t>
            </a:r>
            <a:r>
              <a:rPr lang="en-US" dirty="0"/>
              <a:t>Dominos SWOT analysis – SWOT analysis of Dominos</a:t>
            </a:r>
            <a:r>
              <a:rPr lang="en-US" altLang="zh-CN" dirty="0"/>
              <a:t>.</a:t>
            </a:r>
            <a:r>
              <a:rPr lang="zh-CN" altLang="en-US" dirty="0"/>
              <a:t> </a:t>
            </a:r>
            <a:r>
              <a:rPr lang="en-US" altLang="zh-CN" dirty="0"/>
              <a:t>Retrieved</a:t>
            </a:r>
            <a:r>
              <a:rPr lang="zh-CN" altLang="en-US" dirty="0"/>
              <a:t> </a:t>
            </a:r>
            <a:r>
              <a:rPr lang="en-US" altLang="zh-CN" dirty="0"/>
              <a:t>from:</a:t>
            </a:r>
            <a:r>
              <a:rPr lang="zh-CN" altLang="en-US" dirty="0"/>
              <a:t> </a:t>
            </a:r>
            <a:r>
              <a:rPr lang="en-US" altLang="zh-CN" dirty="0"/>
              <a:t>https://www.marketing91.com/</a:t>
            </a:r>
            <a:r>
              <a:rPr lang="en-US" altLang="zh-CN" dirty="0" err="1"/>
              <a:t>swot</a:t>
            </a:r>
            <a:r>
              <a:rPr lang="en-US" altLang="zh-CN" dirty="0"/>
              <a:t>-analysis-of-dominos/</a:t>
            </a:r>
            <a:endParaRPr lang="en-US" dirty="0"/>
          </a:p>
          <a:p>
            <a:pPr>
              <a:buFont typeface="Wingdings" charset="2"/>
              <a:buChar char="Ø"/>
            </a:pPr>
            <a:endParaRPr lang="en-US" dirty="0"/>
          </a:p>
          <a:p>
            <a:pPr>
              <a:buFont typeface="Wingdings" charset="2"/>
              <a:buChar char="Ø"/>
            </a:pPr>
            <a:endParaRPr lang="en-US" dirty="0"/>
          </a:p>
        </p:txBody>
      </p:sp>
    </p:spTree>
    <p:extLst>
      <p:ext uri="{BB962C8B-B14F-4D97-AF65-F5344CB8AC3E}">
        <p14:creationId xmlns:p14="http://schemas.microsoft.com/office/powerpoint/2010/main" val="2163110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4523</TotalTime>
  <Words>1072</Words>
  <Application>Microsoft Macintosh PowerPoint</Application>
  <PresentationFormat>Widescreen</PresentationFormat>
  <Paragraphs>162</Paragraphs>
  <Slides>16</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Calibri</vt:lpstr>
      <vt:lpstr>Corbel</vt:lpstr>
      <vt:lpstr>DengXian</vt:lpstr>
      <vt:lpstr>Rockwell</vt:lpstr>
      <vt:lpstr>Wingdings</vt:lpstr>
      <vt:lpstr>华文楷体</vt:lpstr>
      <vt:lpstr>Arial</vt:lpstr>
      <vt:lpstr>Parallax</vt:lpstr>
      <vt:lpstr>2016 SITUATION ANALYSIS</vt:lpstr>
      <vt:lpstr>Domino’s Pizza, Inc.</vt:lpstr>
      <vt:lpstr>Our Mission</vt:lpstr>
      <vt:lpstr>Our Vision</vt:lpstr>
      <vt:lpstr>Word Cloud based on the annual report</vt:lpstr>
      <vt:lpstr>SWOT analysis of Domino’s Pizza</vt:lpstr>
      <vt:lpstr>SWOT analysis of Domino’s Pizza </vt:lpstr>
      <vt:lpstr>DOMESTIC MARKET COMPARISON</vt:lpstr>
      <vt:lpstr>INTERNATIONAL MARKET COMPARISON</vt:lpstr>
      <vt:lpstr>Regression analysis(domestic market)</vt:lpstr>
      <vt:lpstr>Regression analysis (International market)</vt:lpstr>
      <vt:lpstr>Twitter word cloud</vt:lpstr>
      <vt:lpstr>Sentiment analysis based on Tweets</vt:lpstr>
      <vt:lpstr>Twitter analysis(Word frequency)</vt:lpstr>
      <vt:lpstr>Conclusion</vt:lpstr>
      <vt:lpstr>Reference</vt:lpstr>
    </vt:vector>
  </TitlesOfParts>
  <Company/>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dc:title>
  <dc:creator>Kun Huang</dc:creator>
  <cp:lastModifiedBy>Kun Huang</cp:lastModifiedBy>
  <cp:revision>64</cp:revision>
  <dcterms:created xsi:type="dcterms:W3CDTF">2017-10-28T01:29:58Z</dcterms:created>
  <dcterms:modified xsi:type="dcterms:W3CDTF">2017-11-02T04:07:44Z</dcterms:modified>
</cp:coreProperties>
</file>